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6"/>
  </p:notesMasterIdLst>
  <p:sldIdLst>
    <p:sldId id="256" r:id="rId2"/>
    <p:sldId id="263" r:id="rId3"/>
    <p:sldId id="257" r:id="rId4"/>
    <p:sldId id="258" r:id="rId5"/>
    <p:sldId id="259" r:id="rId6"/>
    <p:sldId id="260" r:id="rId7"/>
    <p:sldId id="261" r:id="rId8"/>
    <p:sldId id="264" r:id="rId9"/>
    <p:sldId id="265" r:id="rId10"/>
    <p:sldId id="266" r:id="rId11"/>
    <p:sldId id="267" r:id="rId12"/>
    <p:sldId id="270" r:id="rId22"/>
    <p:sldId id="271" r:id="rId23"/>
    <p:sldId id="272" r:id="rId24"/>
    <p:sldId id="273" r:id="rId25"/>
    <p:sldId id="268" r:id="rId13"/>
    <p:sldId id="269" r:id="rId14"/>
    <p:sldId id="262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6" d="100"/>
          <a:sy n="76" d="100"/>
        </p:scale>
        <p:origin x="-1232" y="-10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interSettings" Target="printerSettings/printerSettings1.bin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058E2E1-8886-43B2-B986-F2B06DAA2FAC}" type="datetimeFigureOut">
              <a:rPr lang="en-IN" smtClean="0"/>
              <a:t>05/10/26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959FDF3-42B5-4A41-B75E-186C389084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298584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42592BF-19BE-9BF0-E2FC-07A36D054E1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383AB4F9-CBB3-B18D-E917-C3B06418676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F50F18A0-E201-1900-A139-E830DD3EA1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3E78AE-7F97-4550-9DD8-BF69171FDC30}" type="datetime1">
              <a:rPr lang="en-IN" smtClean="0"/>
              <a:t>05/10/26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ED0906B9-B1F6-B52E-2EE0-7595B1EBF0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97A13AE1-F96E-D540-8DE1-8D903DB30C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651971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7532F7EA-3EC9-99AF-13A9-22A3F8B2D2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FC71419B-73DB-15DA-D2EE-0FC01B435F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AB080259-8D20-E29B-4DC5-312C3DB01B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A886FF-1BA7-4533-94E6-869CE1E2970B}" type="datetime1">
              <a:rPr lang="en-IN" smtClean="0"/>
              <a:t>05/10/26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E101830E-3502-194A-88FA-DC3E0F1B30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ECF6703C-229C-43C6-0484-38EC263AD4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939907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7E0CE344-6494-09A6-A5E4-811EEE0CD2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7351A0E2-2B9B-B96E-A3FD-0B26BDDBEB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A767CE67-8E8A-4D0D-42DF-DDC842B1B1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E22BD8-A2C4-424B-809A-C64DDCC305D9}" type="datetime1">
              <a:rPr lang="en-IN" smtClean="0"/>
              <a:t>05/10/26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73A78C3E-C139-1FD1-979B-D71679959D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9932F297-889B-B694-6DD5-92F8A6AAFF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58143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0792C89C-FEA2-11F6-7988-ADD14A7B22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60E5DE7B-A406-1142-36EA-1C149874023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D4355A2B-361E-86CB-ABBE-C510D2B221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50DA5E84-A1E0-A1C4-F7E6-DA9E7B124C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20F4BC-B3A4-46AF-9AEC-8478EF1369D5}" type="datetime1">
              <a:rPr lang="en-IN" smtClean="0"/>
              <a:t>05/10/26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D5DDA460-54C8-F2AC-C053-53FF3FAFCC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EE6F132A-BD40-58D2-CEEC-A1BA2B9E2E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382236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05823BE-2514-8722-ED45-41E13E46B6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64BFEE3B-6ABA-1D24-97FE-717EBBC999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5C653C42-4C6D-988F-42A0-8639A508A61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xmlns="" id="{F2B662B4-F942-A78F-394F-74F6037179B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xmlns="" id="{5B445FBE-A81E-92E1-36E3-99D1586F831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xmlns="" id="{B6D20C02-77C2-CB2A-62F8-60B8C62629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9A2993-B405-4F4D-B968-A01C27211659}" type="datetime1">
              <a:rPr lang="en-IN" smtClean="0"/>
              <a:t>05/10/26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xmlns="" id="{AD033241-EB08-777E-F678-5D641F6495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xmlns="" id="{40D711ED-181F-C690-A3B3-1D82670FC5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592724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77468B4-E355-69B3-7598-80ADF2F9CC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E2F1AB3B-AFC6-3627-62E6-22313061FA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378C8C-5FBB-4DD7-A06D-BE263480794B}" type="datetime1">
              <a:rPr lang="en-IN" smtClean="0"/>
              <a:t>05/10/26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2B2C6591-48E4-480E-7965-DE9F830154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F10C9D68-A16A-B2D3-C8A6-B5221AF744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750615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xmlns="" id="{A23F289A-3AD7-C11D-1594-90A35E592B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FD2985-06EC-459B-80C8-F6F4362A1C03}" type="datetime1">
              <a:rPr lang="en-IN" smtClean="0"/>
              <a:t>05/10/26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xmlns="" id="{8C252269-BBE3-199F-299B-38D4E9CC18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F7407FDC-B2A9-1304-047F-5808A0B6B2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472659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25A4847-FC20-D9BF-0BDE-26EC7EF743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68D9C584-AC19-D7B4-9DFE-7C1BC2E1BC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2F4A3262-CE8D-2419-DCCC-C536E9FDAC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294758D6-7AF2-29C5-E0EE-3B7BE155E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D7E9DA-13C6-48A4-9305-B592482DE8CE}" type="datetime1">
              <a:rPr lang="en-IN" smtClean="0"/>
              <a:t>05/10/26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45AAC7E7-68C4-7616-2DE1-0333E2C446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5E9EF51B-1685-66FF-0783-23584C2517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563877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13939D0E-3A71-7252-C837-B8281F0DED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xmlns="" id="{AFE3D557-6893-299F-57A8-A7B173F1014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C4CC8BA2-BB08-F4E3-5660-C7370BA568C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CE57E1CE-C7CA-966D-8661-1E99A7DA21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5E7C4B-C575-4DCF-9B63-045662930500}" type="datetime1">
              <a:rPr lang="en-IN" smtClean="0"/>
              <a:t>05/10/26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66055516-3E64-07E5-10C5-DE056657E4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AFBA5AD5-9867-E76D-C035-2856CCFBC1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400179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7E71D7EC-16EA-5009-5D33-ABFC55F281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EB09EC6D-8ED5-29E9-9444-CC2D6A1CB8A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3C1ADFC6-7CEA-ABEE-94C2-870B1E6573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76931C-EA1A-43DD-B3B3-66F5BA587712}" type="datetime1">
              <a:rPr lang="en-IN" smtClean="0"/>
              <a:t>05/10/26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7B1FA3A5-596E-6C2A-F853-30C5DC6FBF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312CE6B1-CE87-B68F-9494-FA6D109F38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598095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xmlns="" id="{AF0FF105-FC99-2BCB-131F-2B902F8BAE2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50354FD6-064F-6E12-E8DE-81EC913CDB0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EF1D2109-32D1-4A0F-F903-5142A204EF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C9B0E1-7C95-4C20-B9C6-BA51F388E878}" type="datetime1">
              <a:rPr lang="en-IN" smtClean="0"/>
              <a:t>05/10/26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73E5353D-EEF9-CF3C-A97F-F0F0EBFA7C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3DF2F1DC-3958-BCDE-9A16-88E928E7ED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53354089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xmlns="" id="{85454249-E28B-CF91-F4A6-9762E4F38B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21E3D641-7C66-CA7D-30A7-7F95AC27EF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B5E1D408-B228-838E-3E43-4304680A536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3827C3E-786B-4150-9177-1C28966A2ADC}" type="datetime1">
              <a:rPr lang="en-IN" smtClean="0"/>
              <a:t>05/10/26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DCEC7A69-1922-F157-900C-FF956683161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IN"/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51B80E76-E345-1553-9664-0BCF569B55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5201FD4-9D8D-4491-815B-63C7BF4F00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918410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jpeg"/><Relationship Id="rId3" Type="http://schemas.openxmlformats.org/officeDocument/2006/relationships/image" Target="../media/image6.jpe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forms.gle/B9B71VPy5b9bZ9dJ8" TargetMode="Externa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3E9E27CD-EF84-CB3A-3D07-A315235689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37236" y="-11493"/>
            <a:ext cx="4517528" cy="1871634"/>
          </a:xfrm>
          <a:prstGeom prst="rect">
            <a:avLst/>
          </a:prstGeom>
        </p:spPr>
      </p:pic>
      <p:sp>
        <p:nvSpPr>
          <p:cNvPr id="7" name="Title 6">
            <a:extLst>
              <a:ext uri="{FF2B5EF4-FFF2-40B4-BE49-F238E27FC236}">
                <a16:creationId xmlns:a16="http://schemas.microsoft.com/office/drawing/2014/main" xmlns="" id="{8BAD67C4-20B4-E1F6-A7E7-C8C33181D0C9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1907459" y="1934141"/>
            <a:ext cx="8924544" cy="10895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B.Tech – BCSE497J – Project-I</a:t>
            </a:r>
            <a:r>
              <a:rPr lang="en-IN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r>
              <a:rPr lang="en-IN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IN" sz="2000" b="1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Confidence Calibration and Hallucination Reduction in Small Language Models</a:t>
            </a:r>
          </a:p>
        </p:txBody>
      </p:sp>
      <p:sp>
        <p:nvSpPr>
          <p:cNvPr id="9" name="object 3">
            <a:extLst>
              <a:ext uri="{FF2B5EF4-FFF2-40B4-BE49-F238E27FC236}">
                <a16:creationId xmlns:a16="http://schemas.microsoft.com/office/drawing/2014/main" xmlns="" id="{68BC382C-506F-4908-6AC3-C0AA73064F47}"/>
              </a:ext>
            </a:extLst>
          </p:cNvPr>
          <p:cNvSpPr txBox="1"/>
          <p:nvPr/>
        </p:nvSpPr>
        <p:spPr>
          <a:xfrm>
            <a:off x="2609088" y="3208471"/>
            <a:ext cx="7071360" cy="246080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00"/>
              </a:spcBef>
            </a:pPr>
            <a:endParaRPr sz="18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000" spc="-20" dirty="0">
                <a:latin typeface="Times New Roman"/>
                <a:cs typeface="Times New Roman"/>
              </a:rPr>
              <a:t>Team members:</a:t>
            </a:r>
            <a:r>
              <a:rPr sz="2000" spc="-80" dirty="0">
                <a:latin typeface="Times New Roman"/>
                <a:cs typeface="Times New Roman"/>
              </a:rPr>
              <a:t/>
            </a:r>
            <a:r>
              <a:rPr sz="2000" spc="-10" dirty="0">
                <a:latin typeface="Times New Roman"/>
                <a:cs typeface="Times New Roman"/>
              </a:rPr>
              <a:t/>
            </a:r>
            <a:endParaRPr sz="2000" dirty="0">
              <a:latin typeface="Times New Roman"/>
              <a:cs typeface="Times New Roman"/>
            </a:endParaRPr>
          </a:p>
          <a:p>
            <a:pPr marL="149225" indent="-136525">
              <a:lnSpc>
                <a:spcPct val="100000"/>
              </a:lnSpc>
              <a:spcBef>
                <a:spcPts val="20"/>
              </a:spcBef>
              <a:buFont typeface="Times New Roman"/>
              <a:buChar char="•"/>
              <a:tabLst>
                <a:tab pos="149225" algn="l"/>
              </a:tabLst>
            </a:pPr>
            <a:r>
              <a:rPr lang="en-IN" sz="2000" b="1" dirty="0">
                <a:latin typeface="Times New Roman"/>
                <a:cs typeface="Times New Roman"/>
              </a:rPr>
              <a:t>Anisha Dhoot   (Reg. No: ________)</a:t>
            </a:r>
            <a:r>
              <a:rPr lang="en-IN" sz="2000" b="1" dirty="0" err="1">
                <a:latin typeface="Times New Roman"/>
                <a:cs typeface="Times New Roman"/>
              </a:rPr>
              <a:t/>
            </a:r>
            <a:r>
              <a:rPr lang="en-IN" sz="2000" b="1" dirty="0">
                <a:latin typeface="Times New Roman"/>
                <a:cs typeface="Times New Roman"/>
              </a:rPr>
              <a:t/>
            </a:r>
          </a:p>
          <a:p>
            <a:pPr marL="149225" indent="-136525">
              <a:lnSpc>
                <a:spcPct val="100000"/>
              </a:lnSpc>
              <a:spcBef>
                <a:spcPts val="20"/>
              </a:spcBef>
              <a:buFont typeface="Times New Roman"/>
              <a:buChar char="•"/>
              <a:tabLst>
                <a:tab pos="149225" algn="l"/>
              </a:tabLst>
            </a:pPr>
            <a:r>
              <a:rPr lang="en-IN" sz="2000" b="1" dirty="0">
                <a:latin typeface="Times New Roman"/>
                <a:cs typeface="Times New Roman"/>
              </a:rPr>
              <a:t>Nataliya Singh   (Reg. No: ________)</a:t>
            </a:r>
            <a:r>
              <a:rPr lang="en-IN" sz="2000" b="1" dirty="0" err="1">
                <a:latin typeface="Times New Roman"/>
                <a:cs typeface="Times New Roman"/>
              </a:rPr>
              <a:t/>
            </a:r>
            <a:r>
              <a:rPr lang="en-IN" sz="2000" b="1" dirty="0">
                <a:latin typeface="Times New Roman"/>
                <a:cs typeface="Times New Roman"/>
              </a:rPr>
              <a:t/>
            </a:r>
          </a:p>
          <a:p>
            <a:pPr marL="149225" indent="-136525">
              <a:lnSpc>
                <a:spcPct val="100000"/>
              </a:lnSpc>
              <a:spcBef>
                <a:spcPts val="20"/>
              </a:spcBef>
              <a:buFont typeface="Times New Roman"/>
              <a:buChar char="•"/>
              <a:tabLst>
                <a:tab pos="149225" algn="l"/>
              </a:tabLst>
            </a:pPr>
            <a:r>
              <a:rPr lang="en-IN" sz="2000" b="1" dirty="0">
                <a:latin typeface="Times New Roman"/>
                <a:cs typeface="Times New Roman"/>
              </a:rPr>
              <a:t>Yash Hirani   (Reg. No: ________)</a:t>
            </a:r>
            <a:r>
              <a:rPr lang="en-IN" sz="2000" b="1" dirty="0" err="1">
                <a:latin typeface="Times New Roman"/>
                <a:cs typeface="Times New Roman"/>
              </a:rPr>
              <a:t/>
            </a:r>
            <a:r>
              <a:rPr lang="en-IN" sz="2000" b="1" dirty="0">
                <a:latin typeface="Times New Roman"/>
                <a:cs typeface="Times New Roman"/>
              </a:rPr>
              <a:t/>
            </a:r>
          </a:p>
          <a:p>
            <a:pPr marL="149225" indent="-136525">
              <a:lnSpc>
                <a:spcPct val="100000"/>
              </a:lnSpc>
              <a:spcBef>
                <a:spcPts val="20"/>
              </a:spcBef>
              <a:buFont typeface="Times New Roman"/>
              <a:buChar char="•"/>
              <a:tabLst>
                <a:tab pos="149225" algn="l"/>
              </a:tabLst>
            </a:pPr>
            <a:endParaRPr lang="en-IN" sz="2000" b="1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000" dirty="0">
                <a:latin typeface="Times New Roman"/>
                <a:cs typeface="Times New Roman"/>
              </a:rPr>
              <a:t>Faculty guide:</a:t>
            </a:r>
            <a:r>
              <a:rPr lang="en-US" sz="2000" spc="-60" dirty="0">
                <a:latin typeface="Times New Roman"/>
                <a:cs typeface="Times New Roman"/>
              </a:rPr>
              <a:t/>
            </a:r>
            <a:r>
              <a:rPr lang="en-US" sz="2000" dirty="0">
                <a:latin typeface="Times New Roman"/>
                <a:cs typeface="Times New Roman"/>
              </a:rPr>
              <a:t/>
            </a:r>
            <a:r>
              <a:rPr lang="en-US" sz="2000" spc="-55" dirty="0">
                <a:latin typeface="Times New Roman"/>
                <a:cs typeface="Times New Roman"/>
              </a:rPr>
              <a:t/>
            </a:r>
            <a:r>
              <a:rPr lang="en-US" sz="2000" spc="-50" dirty="0">
                <a:latin typeface="Times New Roman"/>
                <a:cs typeface="Times New Roman"/>
              </a:rPr>
              <a:t/>
            </a:r>
            <a:endParaRPr lang="en-US" sz="20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lang="en-US" sz="2000" b="1" dirty="0">
                <a:latin typeface="Times New Roman"/>
                <a:cs typeface="Times New Roman"/>
              </a:rPr>
              <a:t>Prof. Swathi J N</a:t>
            </a:r>
            <a:r>
              <a:rPr lang="en-US" sz="2000" b="1" dirty="0" err="1">
                <a:latin typeface="Times New Roman"/>
                <a:cs typeface="Times New Roman"/>
              </a:rPr>
              <a:t/>
            </a:r>
            <a:r>
              <a:rPr lang="en-US" sz="2000" b="1" dirty="0">
                <a:latin typeface="Times New Roman"/>
                <a:cs typeface="Times New Roman"/>
              </a:rPr>
              <a:t/>
            </a:r>
            <a:endParaRPr lang="en-US" sz="2000" dirty="0">
              <a:latin typeface="Times New Roman"/>
              <a:cs typeface="Times New Roman"/>
            </a:endParaRPr>
          </a:p>
          <a:p>
            <a:pPr marL="149225" indent="-136525">
              <a:lnSpc>
                <a:spcPct val="100000"/>
              </a:lnSpc>
              <a:spcBef>
                <a:spcPts val="20"/>
              </a:spcBef>
              <a:buFont typeface="Times New Roman"/>
              <a:buChar char="•"/>
              <a:tabLst>
                <a:tab pos="149225" algn="l"/>
              </a:tabLst>
            </a:pPr>
            <a:endParaRPr sz="180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243036810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A6ACBE13-A9D6-9564-DA47-597E38E09F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Approval Mail From Guide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8233367C-DAD6-6E34-D21A-A981C09442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IN" i="1" dirty="0">
                <a:highlight>
                  <a:srgbClr val="FFFF00"/>
                </a:highlight>
              </a:rPr>
              <a:t>Get the approval for the following points from your guide through mail before  21-10-2026.(sample attached below</a:t>
            </a:r>
            <a:r>
              <a:rPr lang="en-IN" i="1" dirty="0" smtClean="0">
                <a:highlight>
                  <a:srgbClr val="FFFF00"/>
                </a:highlight>
              </a:rPr>
              <a:t>)</a:t>
            </a:r>
          </a:p>
          <a:p>
            <a:endParaRPr lang="en-IN" i="1" dirty="0">
              <a:highlight>
                <a:srgbClr val="FFFF00"/>
              </a:highlight>
            </a:endParaRPr>
          </a:p>
          <a:p>
            <a:endParaRPr lang="en-IN" i="1" dirty="0" smtClean="0">
              <a:highlight>
                <a:srgbClr val="FFFF00"/>
              </a:highlight>
            </a:endParaRPr>
          </a:p>
          <a:p>
            <a:endParaRPr lang="en-IN" i="1" dirty="0" smtClean="0">
              <a:highlight>
                <a:srgbClr val="FFFF00"/>
              </a:highlight>
            </a:endParaRPr>
          </a:p>
          <a:p>
            <a:endParaRPr lang="en-IN" i="1" dirty="0">
              <a:highlight>
                <a:srgbClr val="FFFF00"/>
              </a:highlight>
            </a:endParaRPr>
          </a:p>
          <a:p>
            <a:endParaRPr lang="en-IN" i="1" dirty="0" smtClean="0">
              <a:highlight>
                <a:srgbClr val="FFFF00"/>
              </a:highlight>
            </a:endParaRPr>
          </a:p>
          <a:p>
            <a:endParaRPr lang="en-IN" i="1" dirty="0" smtClean="0">
              <a:highlight>
                <a:srgbClr val="FFFF00"/>
              </a:highlight>
            </a:endParaRPr>
          </a:p>
          <a:p>
            <a:pPr marL="0" indent="0">
              <a:buNone/>
            </a:pPr>
            <a:r>
              <a:rPr lang="en-IN" dirty="0" smtClean="0"/>
              <a:t>All </a:t>
            </a:r>
            <a:r>
              <a:rPr lang="en-IN" dirty="0"/>
              <a:t>the above aspects are addressed and updated by the project team.</a:t>
            </a:r>
          </a:p>
          <a:p>
            <a:pPr marL="0" indent="0">
              <a:buNone/>
            </a:pPr>
            <a:endParaRPr lang="en-IN" dirty="0">
              <a:highlight>
                <a:srgbClr val="FFFF00"/>
              </a:highlight>
            </a:endParaRPr>
          </a:p>
          <a:p>
            <a:endParaRPr lang="en-IN" i="1" dirty="0">
              <a:highlight>
                <a:srgbClr val="FFFF00"/>
              </a:highlight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C7827C50-3ED3-2DB6-C227-6784C6CA9E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A886FF-1BA7-4533-94E6-869CE1E2970B}" type="datetime1">
              <a:rPr lang="en-IN" smtClean="0"/>
              <a:t>05/10/26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56664170-792F-28F8-1C31-5F7A8D69F9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EE16528B-72DB-0275-6A94-33ABB5CD70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2</a:t>
            </a:fld>
            <a:endParaRPr lang="en-IN"/>
          </a:p>
        </p:txBody>
      </p:sp>
      <p:pic>
        <p:nvPicPr>
          <p:cNvPr id="7" name="Picture 6" descr="Screen Shot 2026-10-05 at 11.12.42 A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80053" y="2703606"/>
            <a:ext cx="8942979" cy="26714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6560622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4D68A428-04DA-E6A8-7606-5D2FE5F31C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400"/>
              </a:spcAft>
            </a:pPr>
            <a:r>
              <a:rPr sz="2000">
                <a:latin typeface="Times New Roman"/>
              </a:rPr>
              <a:t>To study whether a controlled share of explicit "I don't know" examples in parameter-efficient fine-tuning makes a small language model (Phi-3-mini, 3.8 B) better calibrated and less likely to hallucinate on institution-specific questions.</a:t>
            </a:r>
          </a:p>
          <a:p>
            <a:pPr>
              <a:spcAft>
                <a:spcPts val="400"/>
              </a:spcAft>
            </a:pPr>
            <a:r>
              <a:rPr sz="2000">
                <a:latin typeface="Times New Roman"/>
              </a:rPr>
              <a:t>Compare three systems on one test set: Base, Normal FT (answerable data only) and IDK FT (15% abstention data).</a:t>
            </a:r>
          </a:p>
          <a:p>
            <a:pPr>
              <a:spcAft>
                <a:spcPts val="400"/>
              </a:spcAft>
            </a:pPr>
            <a:r>
              <a:rPr sz="2000">
                <a:latin typeface="Times New Roman"/>
              </a:rPr>
              <a:t>Measure the benefit (hallucination rate, ECE, Brier, AUROC) and the cost (false refusals, answerable accuracy).</a:t>
            </a:r>
          </a:p>
          <a:p>
            <a:pPr>
              <a:spcAft>
                <a:spcPts val="400"/>
              </a:spcAft>
            </a:pPr>
            <a:r>
              <a:rPr sz="2000">
                <a:latin typeface="Times New Roman"/>
              </a:rPr>
              <a:t>Run everything on a single 4 GB laptop GPU with QLoRA.</a:t>
            </a:r>
          </a:p>
        </p:txBody>
      </p:sp>
      <p:sp>
        <p:nvSpPr>
          <p:cNvPr id="4" name="object 2">
            <a:extLst>
              <a:ext uri="{FF2B5EF4-FFF2-40B4-BE49-F238E27FC236}">
                <a16:creationId xmlns:a16="http://schemas.microsoft.com/office/drawing/2014/main" xmlns="" id="{027305EA-516C-11F8-8A54-2BA046094AB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739558"/>
            <a:ext cx="10515600" cy="576696"/>
          </a:xfrm>
          <a:prstGeom prst="rect">
            <a:avLst/>
          </a:prstGeom>
        </p:spPr>
        <p:txBody>
          <a:bodyPr vert="horz" wrap="square" lIns="0" tIns="113919" rIns="0" bIns="0" rtlCol="0">
            <a:spAutoFit/>
          </a:bodyPr>
          <a:lstStyle/>
          <a:p>
            <a:pPr marL="486409">
              <a:lnSpc>
                <a:spcPct val="100000"/>
              </a:lnSpc>
              <a:spcBef>
                <a:spcPts val="130"/>
              </a:spcBef>
            </a:pPr>
            <a:r>
              <a:rPr sz="3000" b="1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Aim</a:t>
            </a:r>
            <a:endParaRPr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xmlns="" id="{779E6AA7-AE20-8A91-BA42-261BF76A2F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736562-4E3F-4038-A291-A7AE35CC3E6A}" type="datetime1">
              <a:rPr lang="en-IN" smtClean="0"/>
              <a:t>05/10/26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xmlns="" id="{B77FE434-77F0-B8BE-9198-66090332F3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xmlns="" id="{5AD6A9DA-AEE9-F6FE-EFA8-06396314F7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43518868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30BD95E8-8D7C-F548-8B75-23C3B2B15B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35DDED8F-1EBD-2E10-598E-0CA3F56F05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400"/>
              </a:spcAft>
            </a:pPr>
            <a:r>
              <a:rPr sz="1700">
                <a:latin typeface="Times New Roman"/>
              </a:rPr>
              <a:t>SLMs are cheap to deploy but often wrong with high confidence; a confident wrong answer about credits or courses is worse than "I don't know".</a:t>
            </a:r>
          </a:p>
          <a:p>
            <a:pPr>
              <a:spcAft>
                <a:spcPts val="400"/>
              </a:spcAft>
            </a:pPr>
            <a:r>
              <a:rPr sz="1700">
                <a:latin typeface="Times New Roman"/>
              </a:rPr>
              <a:t>Phi-3-mini fine-tuned with QLoRA on 2,984 VIT question-answer pairs (15% unanswerable); 449-query test set (370 answerable, 79 unanswerable).</a:t>
            </a:r>
          </a:p>
          <a:p>
            <a:pPr>
              <a:spcAft>
                <a:spcPts val="400"/>
              </a:spcAft>
            </a:pPr>
            <a:r>
              <a:rPr sz="1700">
                <a:latin typeface="Times New Roman"/>
              </a:rPr>
              <a:t>Normal fine-tuning doubled answerable accuracy (0.227 → 0.451) but answered all 79 unanswerable questions (hallucination rate 1.000; base 0.506).</a:t>
            </a:r>
          </a:p>
          <a:p>
            <a:pPr>
              <a:spcAft>
                <a:spcPts val="400"/>
              </a:spcAft>
            </a:pPr>
            <a:r>
              <a:rPr sz="1700">
                <a:latin typeface="Times New Roman"/>
              </a:rPr>
              <a:t>15% abstention data: hallucination rate 0.139, IDK F1 0.840; ECE 0.622 → 0.408 → 0.304; AUROC 0.557 → 0.764 → 0.810.</a:t>
            </a:r>
          </a:p>
          <a:p>
            <a:pPr>
              <a:spcAft>
                <a:spcPts val="400"/>
              </a:spcAft>
            </a:pPr>
            <a:r>
              <a:rPr sz="1700">
                <a:latin typeface="Times New Roman"/>
              </a:rPr>
              <a:t>Cost: 15 false refusals of 370 answerable queries (4.1%), −4.3 points answerable accuracy. Abstention must be supervised explicitly.</a:t>
            </a:r>
          </a:p>
        </p:txBody>
      </p:sp>
      <p:sp>
        <p:nvSpPr>
          <p:cNvPr id="4" name="object 2">
            <a:extLst>
              <a:ext uri="{FF2B5EF4-FFF2-40B4-BE49-F238E27FC236}">
                <a16:creationId xmlns:a16="http://schemas.microsoft.com/office/drawing/2014/main" xmlns="" id="{156C6ACB-BF9E-DB99-B99C-4896C652737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739558"/>
            <a:ext cx="10515600" cy="576696"/>
          </a:xfrm>
          <a:prstGeom prst="rect">
            <a:avLst/>
          </a:prstGeom>
        </p:spPr>
        <p:txBody>
          <a:bodyPr vert="horz" wrap="square" lIns="0" tIns="113919" rIns="0" bIns="0" rtlCol="0">
            <a:spAutoFit/>
          </a:bodyPr>
          <a:lstStyle/>
          <a:p>
            <a:pPr marL="486409">
              <a:lnSpc>
                <a:spcPct val="100000"/>
              </a:lnSpc>
              <a:spcBef>
                <a:spcPts val="130"/>
              </a:spcBef>
            </a:pPr>
            <a:r>
              <a:rPr lang="en-IN" sz="3000" b="1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  <a:endParaRPr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xmlns="" id="{7C3D067F-DF0A-3BD2-0B9E-C22E39B7F8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261D5D-2F82-4210-B67C-C3AADE7FED47}" type="datetime1">
              <a:rPr lang="en-IN" smtClean="0"/>
              <a:t>05/10/26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E1EFD8C3-C2D0-4BBB-7FD8-43FE2C084A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8BB9991A-41D4-F0AB-EF39-ACE70C817D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53097932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8FF0AE58-8206-476A-BECC-A1ADC0EA15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2">
            <a:extLst>
              <a:ext uri="{FF2B5EF4-FFF2-40B4-BE49-F238E27FC236}">
                <a16:creationId xmlns:a16="http://schemas.microsoft.com/office/drawing/2014/main" xmlns="" id="{435FB437-6170-6BA2-1A38-A902855A3E6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48056" y="681037"/>
            <a:ext cx="10515600" cy="576696"/>
          </a:xfrm>
          <a:prstGeom prst="rect">
            <a:avLst/>
          </a:prstGeom>
        </p:spPr>
        <p:txBody>
          <a:bodyPr vert="horz" wrap="square" lIns="0" tIns="113919" rIns="0" bIns="0" rtlCol="0">
            <a:spAutoFit/>
          </a:bodyPr>
          <a:lstStyle/>
          <a:p>
            <a:pPr marL="486409">
              <a:lnSpc>
                <a:spcPct val="100000"/>
              </a:lnSpc>
              <a:spcBef>
                <a:spcPts val="130"/>
              </a:spcBef>
            </a:pPr>
            <a:r>
              <a:rPr lang="en-IN" sz="3000" b="1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  <a:endParaRPr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xmlns="" id="{913BC6E0-D294-E70D-8B27-13FBFEE5E6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19193B-09C0-4C85-858C-650926A9B146}" type="datetime1">
              <a:rPr lang="en-IN" smtClean="0"/>
              <a:t>05/10/26</a:t>
            </a:fld>
            <a:endParaRPr lang="en-IN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xmlns="" id="{1F284BA2-3334-3EC1-0E81-4C90958972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xmlns="" id="{5A8F14EB-D02F-8EDE-87F4-A3F7E8D20C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5</a:t>
            </a:fld>
            <a:endParaRPr lang="en-IN"/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420000" y="1330000"/>
          <a:ext cx="11349998" cy="48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63851"/>
                <a:gridCol w="2070608"/>
                <a:gridCol w="2454054"/>
                <a:gridCol w="2760810"/>
                <a:gridCol w="2300675"/>
              </a:tblGrid>
              <a:tr h="600000">
                <a:tc>
                  <a:txBody>
                    <a:bodyPr wrap="square"/>
                    <a:lstStyle/>
                    <a:p>
                      <a:r>
                        <a:rPr sz="1100" b="1">
                          <a:latin typeface="Times New Roman"/>
                        </a:rPr>
                        <a:t>Paper</a:t>
                      </a:r>
                    </a:p>
                  </a:txBody>
                  <a:tcPr marL="50000" marR="50000" marT="25000" marB="25000"/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latin typeface="Times New Roman"/>
                        </a:rPr>
                        <a:t>Objective</a:t>
                      </a:r>
                    </a:p>
                  </a:txBody>
                  <a:tcPr marL="50000" marR="50000" marT="25000" marB="25000"/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latin typeface="Times New Roman"/>
                        </a:rPr>
                        <a:t>Methodology</a:t>
                      </a:r>
                    </a:p>
                  </a:txBody>
                  <a:tcPr marL="50000" marR="50000" marT="25000" marB="25000"/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latin typeface="Times New Roman"/>
                        </a:rPr>
                        <a:t>Pros / Cons</a:t>
                      </a:r>
                    </a:p>
                  </a:txBody>
                  <a:tcPr marL="50000" marR="50000" marT="25000" marB="25000"/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latin typeface="Times New Roman"/>
                        </a:rPr>
                        <a:t>Findings</a:t>
                      </a:r>
                    </a:p>
                  </a:txBody>
                  <a:tcPr marL="50000" marR="50000" marT="25000" marB="25000"/>
                </a:tc>
              </a:tr>
              <a:tr h="600000">
                <a:tc>
                  <a:txBody>
                    <a:bodyPr wrap="square"/>
                    <a:lstStyle/>
                    <a:p>
                      <a:r>
                        <a:rPr sz="1100" b="0">
                          <a:latin typeface="Times New Roman"/>
                        </a:rPr>
                        <a:t>Zhang et al., R-Tuning, NAACL 2024 [48]</a:t>
                      </a:r>
                    </a:p>
                  </a:txBody>
                  <a:tcPr marL="50000" marR="50000" marT="25000" marB="25000"/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latin typeface="Times New Roman"/>
                        </a:rPr>
                        <a:t>Teach LLMs to say "I don't know" for questions beyond their knowledge</a:t>
                      </a:r>
                    </a:p>
                  </a:txBody>
                  <a:tcPr marL="50000" marR="50000" marT="25000" marB="25000"/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latin typeface="Times New Roman"/>
                        </a:rPr>
                        <a:t>Find questions the model gets wrong, build refusal-aware data, fine-tune</a:t>
                      </a:r>
                    </a:p>
                  </a:txBody>
                  <a:tcPr marL="50000" marR="50000" marT="25000" marB="25000"/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latin typeface="Times New Roman"/>
                        </a:rPr>
                        <a:t>Pro: refusal ability transfers to new tasks. Con: large models; abstention share set by data</a:t>
                      </a:r>
                    </a:p>
                  </a:txBody>
                  <a:tcPr marL="50000" marR="50000" marT="25000" marB="25000"/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latin typeface="Times New Roman"/>
                        </a:rPr>
                        <a:t>Refusal behaviour can be learned and generalises</a:t>
                      </a:r>
                    </a:p>
                  </a:txBody>
                  <a:tcPr marL="50000" marR="50000" marT="25000" marB="25000"/>
                </a:tc>
              </a:tr>
              <a:tr h="600000">
                <a:tc>
                  <a:txBody>
                    <a:bodyPr wrap="square"/>
                    <a:lstStyle/>
                    <a:p>
                      <a:r>
                        <a:rPr sz="1100" b="0">
                          <a:latin typeface="Times New Roman"/>
                        </a:rPr>
                        <a:t>Cheng et al., ICML 2024 [5]</a:t>
                      </a:r>
                    </a:p>
                  </a:txBody>
                  <a:tcPr marL="50000" marR="50000" marT="25000" marB="25000"/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latin typeface="Times New Roman"/>
                        </a:rPr>
                        <a:t>Can assistants know what they do not know?</a:t>
                      </a:r>
                    </a:p>
                  </a:txBody>
                  <a:tcPr marL="50000" marR="50000" marT="25000" marB="25000"/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latin typeface="Times New Roman"/>
                        </a:rPr>
                        <a:t>Model-specific IDK datasets; compare SFT and preference optimisation</a:t>
                      </a:r>
                    </a:p>
                  </a:txBody>
                  <a:tcPr marL="50000" marR="50000" marT="25000" marB="25000"/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latin typeface="Times New Roman"/>
                        </a:rPr>
                        <a:t>Pro: systematic comparison of training styles. Con: 7B+ models, server hardware</a:t>
                      </a:r>
                    </a:p>
                  </a:txBody>
                  <a:tcPr marL="50000" marR="50000" marT="25000" marB="25000"/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latin typeface="Times New Roman"/>
                        </a:rPr>
                        <a:t>Assistants can be trained to recognise knowledge limits</a:t>
                      </a:r>
                    </a:p>
                  </a:txBody>
                  <a:tcPr marL="50000" marR="50000" marT="25000" marB="25000"/>
                </a:tc>
              </a:tr>
              <a:tr h="600000">
                <a:tc>
                  <a:txBody>
                    <a:bodyPr wrap="square"/>
                    <a:lstStyle/>
                    <a:p>
                      <a:r>
                        <a:rPr sz="1100" b="0">
                          <a:latin typeface="Times New Roman"/>
                        </a:rPr>
                        <a:t>Guo et al., ICML 2017 [14]</a:t>
                      </a:r>
                    </a:p>
                  </a:txBody>
                  <a:tcPr marL="50000" marR="50000" marT="25000" marB="25000"/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latin typeface="Times New Roman"/>
                        </a:rPr>
                        <a:t>Measure calibration of modern neural networks</a:t>
                      </a:r>
                    </a:p>
                  </a:txBody>
                  <a:tcPr marL="50000" marR="50000" marT="25000" marB="25000"/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latin typeface="Times New Roman"/>
                        </a:rPr>
                        <a:t>ECE and reliability diagrams; temperature scaling</a:t>
                      </a:r>
                    </a:p>
                  </a:txBody>
                  <a:tcPr marL="50000" marR="50000" marT="25000" marB="25000"/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latin typeface="Times New Roman"/>
                        </a:rPr>
                        <a:t>Pro: standard metrics and a simple fix. Con: classifiers, not free-form generation</a:t>
                      </a:r>
                    </a:p>
                  </a:txBody>
                  <a:tcPr marL="50000" marR="50000" marT="25000" marB="25000"/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latin typeface="Times New Roman"/>
                        </a:rPr>
                        <a:t>Modern networks are miscalibrated</a:t>
                      </a:r>
                    </a:p>
                  </a:txBody>
                  <a:tcPr marL="50000" marR="50000" marT="25000" marB="25000"/>
                </a:tc>
              </a:tr>
              <a:tr h="600000">
                <a:tc>
                  <a:txBody>
                    <a:bodyPr wrap="square"/>
                    <a:lstStyle/>
                    <a:p>
                      <a:r>
                        <a:rPr sz="1100" b="0">
                          <a:latin typeface="Times New Roman"/>
                        </a:rPr>
                        <a:t>Jiang et al., TACL 2021 [20]</a:t>
                      </a:r>
                    </a:p>
                  </a:txBody>
                  <a:tcPr marL="50000" marR="50000" marT="25000" marB="25000"/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latin typeface="Times New Roman"/>
                        </a:rPr>
                        <a:t>Calibration of language models on QA</a:t>
                      </a:r>
                    </a:p>
                  </a:txBody>
                  <a:tcPr marL="50000" marR="50000" marT="25000" marB="25000"/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latin typeface="Times New Roman"/>
                        </a:rPr>
                        <a:t>Evaluate T5, BART and GPT-2 confidences, fine-tuning and post-hoc calibration</a:t>
                      </a:r>
                    </a:p>
                  </a:txBody>
                  <a:tcPr marL="50000" marR="50000" marT="25000" marB="25000"/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latin typeface="Times New Roman"/>
                        </a:rPr>
                        <a:t>Pro: early QA calibration study. Con: older models</a:t>
                      </a:r>
                    </a:p>
                  </a:txBody>
                  <a:tcPr marL="50000" marR="50000" marT="25000" marB="25000"/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latin typeface="Times New Roman"/>
                        </a:rPr>
                        <a:t>Models are poorly calibrated; fine-tuning and post-hoc fixes help little</a:t>
                      </a:r>
                    </a:p>
                  </a:txBody>
                  <a:tcPr marL="50000" marR="50000" marT="25000" marB="25000"/>
                </a:tc>
              </a:tr>
              <a:tr h="600000">
                <a:tc>
                  <a:txBody>
                    <a:bodyPr wrap="square"/>
                    <a:lstStyle/>
                    <a:p>
                      <a:r>
                        <a:rPr sz="1100" b="0">
                          <a:latin typeface="Times New Roman"/>
                        </a:rPr>
                        <a:t>Kapoor et al., NeurIPS 2024 [25]</a:t>
                      </a:r>
                    </a:p>
                  </a:txBody>
                  <a:tcPr marL="50000" marR="50000" marT="25000" marB="25000"/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latin typeface="Times New Roman"/>
                        </a:rPr>
                        <a:t>Teach LLMs to know what they don't know</a:t>
                      </a:r>
                    </a:p>
                  </a:txBody>
                  <a:tcPr marL="50000" marR="50000" marT="25000" marB="25000"/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latin typeface="Times New Roman"/>
                        </a:rPr>
                        <a:t>Fine-tune on a small graded set, including LoRA</a:t>
                      </a:r>
                    </a:p>
                  </a:txBody>
                  <a:tcPr marL="50000" marR="50000" marT="25000" marB="25000"/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latin typeface="Times New Roman"/>
                        </a:rPr>
                        <a:t>Pro: training beats prompting for calibration. Con: needs graded examples</a:t>
                      </a:r>
                    </a:p>
                  </a:txBody>
                  <a:tcPr marL="50000" marR="50000" marT="25000" marB="25000"/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latin typeface="Times New Roman"/>
                        </a:rPr>
                        <a:t>Small fine-tuning sets give better-calibrated uncertainty</a:t>
                      </a:r>
                    </a:p>
                  </a:txBody>
                  <a:tcPr marL="50000" marR="50000" marT="25000" marB="25000"/>
                </a:tc>
              </a:tr>
              <a:tr h="600000">
                <a:tc>
                  <a:txBody>
                    <a:bodyPr wrap="square"/>
                    <a:lstStyle/>
                    <a:p>
                      <a:r>
                        <a:rPr sz="1100" b="0">
                          <a:latin typeface="Times New Roman"/>
                        </a:rPr>
                        <a:t>Gekhman et al., EMNLP 2024 [12]</a:t>
                      </a:r>
                    </a:p>
                  </a:txBody>
                  <a:tcPr marL="50000" marR="50000" marT="25000" marB="25000"/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latin typeface="Times New Roman"/>
                        </a:rPr>
                        <a:t>Does fine-tuning on new knowledge cause hallucination?</a:t>
                      </a:r>
                    </a:p>
                  </a:txBody>
                  <a:tcPr marL="50000" marR="50000" marT="25000" marB="25000"/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latin typeface="Times New Roman"/>
                        </a:rPr>
                        <a:t>Controlled fine-tuning with known and unknown facts</a:t>
                      </a:r>
                    </a:p>
                  </a:txBody>
                  <a:tcPr marL="50000" marR="50000" marT="25000" marB="25000"/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latin typeface="Times New Roman"/>
                        </a:rPr>
                        <a:t>Pro: explains why domain fine-tuning is risky. Con: does not give a mitigation</a:t>
                      </a:r>
                    </a:p>
                  </a:txBody>
                  <a:tcPr marL="50000" marR="50000" marT="25000" marB="25000"/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latin typeface="Times New Roman"/>
                        </a:rPr>
                        <a:t>New facts are learned slowly and raise hallucination</a:t>
                      </a:r>
                    </a:p>
                  </a:txBody>
                  <a:tcPr marL="50000" marR="50000" marT="25000" marB="25000"/>
                </a:tc>
              </a:tr>
              <a:tr h="600000">
                <a:tc>
                  <a:txBody>
                    <a:bodyPr wrap="square"/>
                    <a:lstStyle/>
                    <a:p>
                      <a:r>
                        <a:rPr sz="1100" b="0">
                          <a:latin typeface="Times New Roman"/>
                        </a:rPr>
                        <a:t>Hu et al., arXiv 2026 [17]</a:t>
                      </a:r>
                    </a:p>
                  </a:txBody>
                  <a:tcPr marL="50000" marR="50000" marT="25000" marB="25000"/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latin typeface="Times New Roman"/>
                        </a:rPr>
                        <a:t>Effect of PEFT on hallucination detection</a:t>
                      </a:r>
                    </a:p>
                  </a:txBody>
                  <a:tcPr marL="50000" marR="50000" marT="25000" marB="25000"/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latin typeface="Times New Roman"/>
                        </a:rPr>
                        <a:t>Apply confidence and entropy detectors to PEFT models</a:t>
                      </a:r>
                    </a:p>
                  </a:txBody>
                  <a:tcPr marL="50000" marR="50000" marT="25000" marB="25000"/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latin typeface="Times New Roman"/>
                        </a:rPr>
                        <a:t>Pro: links PEFT and detectability. Con: no abstention training</a:t>
                      </a:r>
                    </a:p>
                  </a:txBody>
                  <a:tcPr marL="50000" marR="50000" marT="25000" marB="25000"/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latin typeface="Times New Roman"/>
                        </a:rPr>
                        <a:t>PEFT raises AUROC of unsupervised detectors</a:t>
                      </a:r>
                    </a:p>
                  </a:txBody>
                  <a:tcPr marL="50000" marR="50000" marT="25000" marB="2500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574497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9FD64C5E-26B3-2EE9-895A-F822E4C49E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F07F8AC8-6380-9217-CA4C-1FBF1C25C6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400"/>
              </a:spcAft>
            </a:pPr>
            <a:r>
              <a:rPr sz="1900">
                <a:latin typeface="Times New Roman"/>
              </a:rPr>
              <a:t>Abstention work (R-Tuning, Cheng et al.) targets 7B–70B models on server GPUs; sub-4B models on a 4 GB consumer GPU are not studied.</a:t>
            </a:r>
          </a:p>
          <a:p>
            <a:pPr>
              <a:spcAft>
                <a:spcPts val="400"/>
              </a:spcAft>
            </a:pPr>
            <a:r>
              <a:rPr sz="1900">
                <a:latin typeface="Times New Roman"/>
              </a:rPr>
              <a:t>Abstention share is set by how much data exists, not controlled as a variable.</a:t>
            </a:r>
          </a:p>
          <a:p>
            <a:pPr>
              <a:spcAft>
                <a:spcPts val="400"/>
              </a:spcAft>
            </a:pPr>
            <a:r>
              <a:rPr sz="1900">
                <a:latin typeface="Times New Roman"/>
              </a:rPr>
              <a:t>Calibration and hallucination are studied separately; here both use one refusal-aware correctness definition.</a:t>
            </a:r>
          </a:p>
          <a:p>
            <a:pPr>
              <a:spcAft>
                <a:spcPts val="400"/>
              </a:spcAft>
            </a:pPr>
            <a:r>
              <a:rPr sz="1900">
                <a:latin typeface="Times New Roman"/>
              </a:rPr>
              <a:t>Over-abstention is a named open problem but rarely quantified; here false refusal rate is reported.</a:t>
            </a:r>
          </a:p>
          <a:p>
            <a:pPr>
              <a:spcAft>
                <a:spcPts val="400"/>
              </a:spcAft>
            </a:pPr>
            <a:r>
              <a:rPr sz="1900">
                <a:latin typeface="Times New Roman"/>
              </a:rPr>
              <a:t>Effect of plain domain fine-tuning on abstention is rarely measured against base and abstention-aware models.</a:t>
            </a:r>
          </a:p>
        </p:txBody>
      </p:sp>
      <p:sp>
        <p:nvSpPr>
          <p:cNvPr id="4" name="object 2">
            <a:extLst>
              <a:ext uri="{FF2B5EF4-FFF2-40B4-BE49-F238E27FC236}">
                <a16:creationId xmlns:a16="http://schemas.microsoft.com/office/drawing/2014/main" xmlns="" id="{2E07AC55-BA5E-4123-39E6-B79860C6C9E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60248" y="681037"/>
            <a:ext cx="10515600" cy="576696"/>
          </a:xfrm>
          <a:prstGeom prst="rect">
            <a:avLst/>
          </a:prstGeom>
        </p:spPr>
        <p:txBody>
          <a:bodyPr vert="horz" wrap="square" lIns="0" tIns="113919" rIns="0" bIns="0" rtlCol="0">
            <a:spAutoFit/>
          </a:bodyPr>
          <a:lstStyle/>
          <a:p>
            <a:pPr marL="486409">
              <a:lnSpc>
                <a:spcPct val="100000"/>
              </a:lnSpc>
              <a:spcBef>
                <a:spcPts val="130"/>
              </a:spcBef>
            </a:pPr>
            <a:r>
              <a:rPr lang="en-IN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 Gap</a:t>
            </a:r>
            <a:endParaRPr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xmlns="" id="{A2430A72-466B-CBDE-2F02-635BA91A98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AE986A-8308-4C4E-A0F3-DDD9B5B25762}" type="datetime1">
              <a:rPr lang="en-IN" smtClean="0"/>
              <a:t>05/10/26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1711DDA3-7A7C-1F61-1795-3A01ED678F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D94E3226-1DB1-3A4D-CE37-4A2AD48EF1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231028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FFF50AAC-0156-D6F5-7153-C791999940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6283ADE1-559A-2DC2-A801-6A915E106C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50000"/>
            <a:ext cx="10515600" cy="2800000"/>
          </a:xfrm>
        </p:spPr>
        <p:txBody>
          <a:bodyPr/>
          <a:lstStyle/>
          <a:p>
            <a:pPr>
              <a:spcAft>
                <a:spcPts val="400"/>
              </a:spcAft>
            </a:pPr>
            <a:r>
              <a:rPr sz="1700">
                <a:latin typeface="Times New Roman"/>
              </a:rPr>
              <a:t>Measure how domain fine-tuning changes calibration and hallucination (Base vs Normal FT).</a:t>
            </a:r>
          </a:p>
          <a:p>
            <a:pPr>
              <a:spcAft>
                <a:spcPts val="400"/>
              </a:spcAft>
            </a:pPr>
            <a:r>
              <a:rPr sz="1700">
                <a:latin typeface="Times New Roman"/>
              </a:rPr>
              <a:t>Test whether 15% abstention data reduces hallucination (Normal FT vs IDK FT).</a:t>
            </a:r>
          </a:p>
          <a:p>
            <a:pPr>
              <a:spcAft>
                <a:spcPts val="400"/>
              </a:spcAft>
            </a:pPr>
            <a:r>
              <a:rPr sz="1700">
                <a:latin typeface="Times New Roman"/>
              </a:rPr>
              <a:t>Test whether it also improves calibration (ECE, Brier) and discrimination (AUROC) without temperature scaling.</a:t>
            </a:r>
          </a:p>
          <a:p>
            <a:pPr>
              <a:spcAft>
                <a:spcPts val="400"/>
              </a:spcAft>
            </a:pPr>
            <a:r>
              <a:rPr sz="1700">
                <a:latin typeface="Times New Roman"/>
              </a:rPr>
              <a:t>Quantify the cost: false refusals and answerable accuracy.</a:t>
            </a:r>
          </a:p>
          <a:p>
            <a:pPr>
              <a:spcAft>
                <a:spcPts val="400"/>
              </a:spcAft>
            </a:pPr>
            <a:r>
              <a:rPr sz="1700">
                <a:latin typeface="Times New Roman"/>
              </a:rPr>
              <a:t>Package code, data and results so every number is reproducible on a 4 GB GPU.</a:t>
            </a:r>
          </a:p>
        </p:txBody>
      </p:sp>
      <p:sp>
        <p:nvSpPr>
          <p:cNvPr id="4" name="object 2">
            <a:extLst>
              <a:ext uri="{FF2B5EF4-FFF2-40B4-BE49-F238E27FC236}">
                <a16:creationId xmlns:a16="http://schemas.microsoft.com/office/drawing/2014/main" xmlns="" id="{22BADD22-870A-4D8F-B788-CCCD5C223F9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60248" y="681037"/>
            <a:ext cx="10515600" cy="576696"/>
          </a:xfrm>
          <a:prstGeom prst="rect">
            <a:avLst/>
          </a:prstGeom>
        </p:spPr>
        <p:txBody>
          <a:bodyPr vert="horz" wrap="square" lIns="0" tIns="113919" rIns="0" bIns="0" rtlCol="0">
            <a:spAutoFit/>
          </a:bodyPr>
          <a:lstStyle/>
          <a:p>
            <a:pPr marL="486409">
              <a:lnSpc>
                <a:spcPct val="100000"/>
              </a:lnSpc>
              <a:spcBef>
                <a:spcPts val="130"/>
              </a:spcBef>
            </a:pPr>
            <a:r>
              <a:rPr lang="en-IN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  <a:endParaRPr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xmlns="" id="{1BE4F0EB-E8F1-14D8-E22A-38E83F9BFA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C21BBC-35C1-4163-B59F-12E882240DC0}" type="datetime1">
              <a:rPr lang="en-I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05/10/26</a:t>
            </a:fld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76D8B93F-BA73-08B5-E0DD-D434FA25B9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E6BABF72-E9F9-626A-63CD-EA20C0714A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fld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82632EBB-2D05-8D00-7F98-43CBAFAF06ED}"/>
              </a:ext>
            </a:extLst>
          </p:cNvPr>
          <p:cNvSpPr txBox="1"/>
          <p:nvPr/>
        </p:nvSpPr>
        <p:spPr>
          <a:xfrm>
            <a:off x="460248" y="4500000"/>
            <a:ext cx="11523407" cy="170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400"/>
              </a:spcAft>
            </a:pPr>
            <a:r>
              <a:rPr sz="1600" b="1">
                <a:latin typeface="Times New Roman"/>
              </a:rPr>
              <a:t>Identified SDGs: SDG 4 – Quality Education (reliable, honest campus assistants); SDG 9 – Industry, Innovation and Infrastructure (efficient on-device AI).</a:t>
            </a:r>
          </a:p>
          <a:p>
            <a:pPr>
              <a:spcAft>
                <a:spcPts val="400"/>
              </a:spcAft>
            </a:pPr>
            <a:r>
              <a:rPr sz="1600" b="0">
                <a:latin typeface="Times New Roman"/>
              </a:rPr>
              <a:t>Technology readiness: TRL 4 – technology validated in the lab (research prototype with a demo chatbot).</a:t>
            </a:r>
          </a:p>
          <a:p>
            <a:pPr>
              <a:spcAft>
                <a:spcPts val="400"/>
              </a:spcAft>
            </a:pPr>
            <a:r>
              <a:rPr sz="1600" b="0">
                <a:latin typeface="Times New Roman"/>
              </a:rPr>
              <a:t>Outcomes: conference paper (Springer LNCS format); reproducible code, data and results package; demo web chatbot.</a:t>
            </a:r>
          </a:p>
        </p:txBody>
      </p:sp>
    </p:spTree>
    <p:extLst>
      <p:ext uri="{BB962C8B-B14F-4D97-AF65-F5344CB8AC3E}">
        <p14:creationId xmlns:p14="http://schemas.microsoft.com/office/powerpoint/2010/main" val="23359624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08D49C0F-2490-21B4-8186-6F75540ACE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5BFBB131-7217-3694-F593-4021591CC6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50000"/>
            <a:ext cx="10515600" cy="2350000"/>
          </a:xfrm>
        </p:spPr>
        <p:txBody>
          <a:bodyPr/>
          <a:lstStyle/>
          <a:p>
            <a:pPr>
              <a:spcAft>
                <a:spcPts val="400"/>
              </a:spcAft>
            </a:pPr>
            <a:r>
              <a:rPr sz="1600">
                <a:latin typeface="Times New Roman"/>
              </a:rPr>
              <a:t>Data layer: VIT QA corpus split into answerable (2,537) and abstention (792) pools; controlled mix ρ = 0 or 0.15.</a:t>
            </a:r>
          </a:p>
          <a:p>
            <a:pPr>
              <a:spcAft>
                <a:spcPts val="400"/>
              </a:spcAft>
            </a:pPr>
            <a:r>
              <a:rPr sz="1600">
                <a:latin typeface="Times New Roman"/>
              </a:rPr>
              <a:t>Training layer: Phi-3-mini 4-bit + LoRA → Normal FT (0% IDK) and IDK FT (15% IDK); Base has no adapter.</a:t>
            </a:r>
          </a:p>
          <a:p>
            <a:pPr>
              <a:spcAft>
                <a:spcPts val="400"/>
              </a:spcAft>
            </a:pPr>
            <a:r>
              <a:rPr sz="1600">
                <a:latin typeface="Times New Roman"/>
              </a:rPr>
              <a:t>Inference layer: greedy answer + length-normalised token-probability confidence, or an "I don't know" response.</a:t>
            </a:r>
          </a:p>
          <a:p>
            <a:pPr>
              <a:spcAft>
                <a:spcPts val="400"/>
              </a:spcAft>
            </a:pPr>
            <a:r>
              <a:rPr sz="1600">
                <a:latin typeface="Times New Roman"/>
              </a:rPr>
              <a:t>Evaluation layer: refusal metrics, ECE, Brier, NLL, AUROC, reliability diagrams.</a:t>
            </a:r>
          </a:p>
        </p:txBody>
      </p:sp>
      <p:sp>
        <p:nvSpPr>
          <p:cNvPr id="4" name="object 2">
            <a:extLst>
              <a:ext uri="{FF2B5EF4-FFF2-40B4-BE49-F238E27FC236}">
                <a16:creationId xmlns:a16="http://schemas.microsoft.com/office/drawing/2014/main" xmlns="" id="{5DE9EA00-8D77-8DC9-1AE3-8B6FD1AF6BC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60248" y="681037"/>
            <a:ext cx="10515600" cy="576696"/>
          </a:xfrm>
          <a:prstGeom prst="rect">
            <a:avLst/>
          </a:prstGeom>
        </p:spPr>
        <p:txBody>
          <a:bodyPr vert="horz" wrap="square" lIns="0" tIns="113919" rIns="0" bIns="0" rtlCol="0">
            <a:spAutoFit/>
          </a:bodyPr>
          <a:lstStyle/>
          <a:p>
            <a:pPr marL="486409">
              <a:lnSpc>
                <a:spcPct val="100000"/>
              </a:lnSpc>
              <a:spcBef>
                <a:spcPts val="130"/>
              </a:spcBef>
            </a:pPr>
            <a:r>
              <a:rPr lang="en-IN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Framework/Architecture/Block Diagram</a:t>
            </a:r>
            <a:endParaRPr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xmlns="" id="{3B40592E-46EE-B4F2-7D01-D3568C2F68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C21BBC-35C1-4163-B59F-12E882240DC0}" type="datetime1">
              <a:rPr lang="en-I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05/10/26</a:t>
            </a:fld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5BCDC439-5940-84EE-247A-E3018795A4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A6CB23C8-7091-8CFB-BF2C-3A19CCA810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fld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 descr="architecture_horizont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000" y="3950000"/>
            <a:ext cx="11350000" cy="19471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8135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7FE95AF1-B807-AC15-9C1A-B86677AF63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EEF324FF-B70A-2FC0-8FD0-C802E31DDB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400"/>
              </a:spcAft>
            </a:pPr>
            <a:r>
              <a:rPr sz="1600">
                <a:latin typeface="Times New Roman"/>
              </a:rPr>
              <a:t>FR1  Build train/valid/test files for a chosen abstention ratio; normalise refusals to one canonical string.</a:t>
            </a:r>
          </a:p>
          <a:p>
            <a:pPr>
              <a:spcAft>
                <a:spcPts val="400"/>
              </a:spcAft>
            </a:pPr>
            <a:r>
              <a:rPr sz="1600">
                <a:latin typeface="Times New Roman"/>
              </a:rPr>
              <a:t>FR2  Verify no train/test leakage and canonical refusal labels.</a:t>
            </a:r>
          </a:p>
          <a:p>
            <a:pPr>
              <a:spcAft>
                <a:spcPts val="400"/>
              </a:spcAft>
            </a:pPr>
            <a:r>
              <a:rPr sz="1600">
                <a:latin typeface="Times New Roman"/>
              </a:rPr>
              <a:t>FR3  Train a LoRA adapter within 4 GB VRAM.</a:t>
            </a:r>
          </a:p>
          <a:p>
            <a:pPr>
              <a:spcAft>
                <a:spcPts val="400"/>
              </a:spcAft>
            </a:pPr>
            <a:r>
              <a:rPr sz="1600">
                <a:latin typeface="Times New Roman"/>
              </a:rPr>
              <a:t>FR4  Generate a greedy answer and a sequence-level confidence for each query.</a:t>
            </a:r>
          </a:p>
          <a:p>
            <a:pPr>
              <a:spcAft>
                <a:spcPts val="400"/>
              </a:spcAft>
            </a:pPr>
            <a:r>
              <a:rPr sz="1600">
                <a:latin typeface="Times New Roman"/>
              </a:rPr>
              <a:t>FR5  Compute hallucination rate, IDK precision/recall/F1, false refusals, answerable accuracy.</a:t>
            </a:r>
          </a:p>
          <a:p>
            <a:pPr>
              <a:spcAft>
                <a:spcPts val="400"/>
              </a:spcAft>
            </a:pPr>
            <a:r>
              <a:rPr sz="1600">
                <a:latin typeface="Times New Roman"/>
              </a:rPr>
              <a:t>FR6  Compute ECE, Brier, NLL, AUROC; export per-example confidence and correctness.</a:t>
            </a:r>
          </a:p>
          <a:p>
            <a:pPr>
              <a:spcAft>
                <a:spcPts val="400"/>
              </a:spcAft>
            </a:pPr>
            <a:r>
              <a:rPr sz="1600">
                <a:latin typeface="Times New Roman"/>
              </a:rPr>
              <a:t>FR7  Plot reliability diagrams, ROC curves, confidence histograms, refusal and error charts.</a:t>
            </a:r>
          </a:p>
          <a:p>
            <a:pPr>
              <a:spcAft>
                <a:spcPts val="400"/>
              </a:spcAft>
            </a:pPr>
            <a:r>
              <a:rPr sz="1600">
                <a:latin typeface="Times New Roman"/>
              </a:rPr>
              <a:t>FR8  Demo chatbot that shows answer, confidence and an explicit abstention.</a:t>
            </a:r>
          </a:p>
        </p:txBody>
      </p:sp>
      <p:sp>
        <p:nvSpPr>
          <p:cNvPr id="4" name="object 2">
            <a:extLst>
              <a:ext uri="{FF2B5EF4-FFF2-40B4-BE49-F238E27FC236}">
                <a16:creationId xmlns:a16="http://schemas.microsoft.com/office/drawing/2014/main" xmlns="" id="{0C9A0194-5820-F292-3A94-449C000E51A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60248" y="681037"/>
            <a:ext cx="10515600" cy="576696"/>
          </a:xfrm>
          <a:prstGeom prst="rect">
            <a:avLst/>
          </a:prstGeom>
        </p:spPr>
        <p:txBody>
          <a:bodyPr vert="horz" wrap="square" lIns="0" tIns="113919" rIns="0" bIns="0" rtlCol="0">
            <a:spAutoFit/>
          </a:bodyPr>
          <a:lstStyle/>
          <a:p>
            <a:pPr marL="486409">
              <a:lnSpc>
                <a:spcPct val="100000"/>
              </a:lnSpc>
              <a:spcBef>
                <a:spcPts val="130"/>
              </a:spcBef>
            </a:pPr>
            <a:r>
              <a:rPr lang="en-IN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Functional Requirements</a:t>
            </a:r>
            <a:endParaRPr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xmlns="" id="{D4F25267-3005-EC45-A624-B78484DFA4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C21BBC-35C1-4163-B59F-12E882240DC0}" type="datetime1">
              <a:rPr lang="en-I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05/10/26</a:t>
            </a:fld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610022FF-AD0C-E15E-5F17-B2827B5546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BD8D6198-8B2C-26FB-53D2-A5B87C95A4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fld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912992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4D42F2ED-50F9-3DFA-95BB-1A1059C5D8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2">
            <a:extLst>
              <a:ext uri="{FF2B5EF4-FFF2-40B4-BE49-F238E27FC236}">
                <a16:creationId xmlns:a16="http://schemas.microsoft.com/office/drawing/2014/main" xmlns="" id="{B27DA514-48FC-4BF4-8205-DE21D456C5F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60248" y="681037"/>
            <a:ext cx="10515600" cy="576696"/>
          </a:xfrm>
          <a:prstGeom prst="rect">
            <a:avLst/>
          </a:prstGeom>
        </p:spPr>
        <p:txBody>
          <a:bodyPr vert="horz" wrap="square" lIns="0" tIns="113919" rIns="0" bIns="0" rtlCol="0">
            <a:spAutoFit/>
          </a:bodyPr>
          <a:lstStyle/>
          <a:p>
            <a:pPr marL="486409">
              <a:lnSpc>
                <a:spcPct val="100000"/>
              </a:lnSpc>
              <a:spcBef>
                <a:spcPts val="130"/>
              </a:spcBef>
            </a:pPr>
            <a:r>
              <a:rPr lang="en-IN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Modules</a:t>
            </a:r>
            <a:endParaRPr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xmlns="" id="{D74A04E0-6631-130F-A154-C85D978EA3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C21BBC-35C1-4163-B59F-12E882240DC0}" type="datetime1">
              <a:rPr lang="en-I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05/10/26</a:t>
            </a:fld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39615995-EDEB-C984-B852-1229C23B1A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067F5109-389C-3E37-E553-A559233EFD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fld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00000" y="1500000"/>
          <a:ext cx="10999998" cy="434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87951"/>
                <a:gridCol w="4240963"/>
                <a:gridCol w="4771084"/>
              </a:tblGrid>
              <a:tr h="620000">
                <a:tc>
                  <a:txBody>
                    <a:bodyPr wrap="square"/>
                    <a:lstStyle/>
                    <a:p>
                      <a:r>
                        <a:rPr sz="1300" b="1">
                          <a:latin typeface="Times New Roman"/>
                        </a:rPr>
                        <a:t>Module</a:t>
                      </a:r>
                    </a:p>
                  </a:txBody>
                  <a:tcPr marL="50000" marR="50000" marT="25000" marB="25000"/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latin typeface="Times New Roman"/>
                        </a:rPr>
                        <a:t>What it does</a:t>
                      </a:r>
                    </a:p>
                  </a:txBody>
                  <a:tcPr marL="50000" marR="50000" marT="25000" marB="25000"/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latin typeface="Times New Roman"/>
                        </a:rPr>
                        <a:t>Files</a:t>
                      </a:r>
                    </a:p>
                  </a:txBody>
                  <a:tcPr marL="50000" marR="50000" marT="25000" marB="25000"/>
                </a:tc>
              </a:tr>
              <a:tr h="620000">
                <a:tc>
                  <a:txBody>
                    <a:bodyPr wrap="square"/>
                    <a:lstStyle/>
                    <a:p>
                      <a:r>
                        <a:rPr sz="1300" b="0">
                          <a:latin typeface="Times New Roman"/>
                        </a:rPr>
                        <a:t>1 Data curation</a:t>
                      </a:r>
                    </a:p>
                  </a:txBody>
                  <a:tcPr marL="50000" marR="50000" marT="25000" marB="25000"/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latin typeface="Times New Roman"/>
                        </a:rPr>
                        <a:t>Public VIT QA rows; source inventory; non-public rows removed</a:t>
                      </a:r>
                    </a:p>
                  </a:txBody>
                  <a:tcPr marL="50000" marR="50000" marT="25000" marB="25000"/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latin typeface="Times New Roman"/>
                        </a:rPr>
                        <a:t>final_qa_dataset.csv, combined_qa_finetuning.csv, VIT_QA_Resource_Breakdown.xlsx</a:t>
                      </a:r>
                    </a:p>
                  </a:txBody>
                  <a:tcPr marL="50000" marR="50000" marT="25000" marB="25000"/>
                </a:tc>
              </a:tr>
              <a:tr h="620000">
                <a:tc>
                  <a:txBody>
                    <a:bodyPr wrap="square"/>
                    <a:lstStyle/>
                    <a:p>
                      <a:r>
                        <a:rPr sz="1300" b="0">
                          <a:latin typeface="Times New Roman"/>
                        </a:rPr>
                        <a:t>2 Data preparation</a:t>
                      </a:r>
                    </a:p>
                  </a:txBody>
                  <a:tcPr marL="50000" marR="50000" marT="25000" marB="25000"/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latin typeface="Times New Roman"/>
                        </a:rPr>
                        <a:t>Controlled-ratio splits (70/15/15, seed 42); leakage and label checks</a:t>
                      </a:r>
                    </a:p>
                  </a:txBody>
                  <a:tcPr marL="50000" marR="50000" marT="25000" marB="25000"/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latin typeface="Times New Roman"/>
                        </a:rPr>
                        <a:t>prepare_expc_data.py, verify_dataset.py</a:t>
                      </a:r>
                    </a:p>
                  </a:txBody>
                  <a:tcPr marL="50000" marR="50000" marT="25000" marB="25000"/>
                </a:tc>
              </a:tr>
              <a:tr h="620000">
                <a:tc>
                  <a:txBody>
                    <a:bodyPr wrap="square"/>
                    <a:lstStyle/>
                    <a:p>
                      <a:r>
                        <a:rPr sz="1300" b="0">
                          <a:latin typeface="Times New Roman"/>
                        </a:rPr>
                        <a:t>3 Fine-tuning</a:t>
                      </a:r>
                    </a:p>
                  </a:txBody>
                  <a:tcPr marL="50000" marR="50000" marT="25000" marB="25000"/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latin typeface="Times New Roman"/>
                        </a:rPr>
                        <a:t>QLoRA training of Normal FT and IDK FT adapters</a:t>
                      </a:r>
                    </a:p>
                  </a:txBody>
                  <a:tcPr marL="50000" marR="50000" marT="25000" marB="25000"/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latin typeface="Times New Roman"/>
                        </a:rPr>
                        <a:t>train_lora.py, exp_c_train.py</a:t>
                      </a:r>
                    </a:p>
                  </a:txBody>
                  <a:tcPr marL="50000" marR="50000" marT="25000" marB="25000"/>
                </a:tc>
              </a:tr>
              <a:tr h="620000">
                <a:tc>
                  <a:txBody>
                    <a:bodyPr wrap="square"/>
                    <a:lstStyle/>
                    <a:p>
                      <a:r>
                        <a:rPr sz="1300" b="0">
                          <a:latin typeface="Times New Roman"/>
                        </a:rPr>
                        <a:t>4 Evaluation</a:t>
                      </a:r>
                    </a:p>
                  </a:txBody>
                  <a:tcPr marL="50000" marR="50000" marT="25000" marB="25000"/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latin typeface="Times New Roman"/>
                        </a:rPr>
                        <a:t>Answers, confidence, refusal and calibration metrics</a:t>
                      </a:r>
                    </a:p>
                  </a:txBody>
                  <a:tcPr marL="50000" marR="50000" marT="25000" marB="25000"/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latin typeface="Times New Roman"/>
                        </a:rPr>
                        <a:t>eval_compare_fixed.py, compare_idk_stats.py</a:t>
                      </a:r>
                    </a:p>
                  </a:txBody>
                  <a:tcPr marL="50000" marR="50000" marT="25000" marB="25000"/>
                </a:tc>
              </a:tr>
              <a:tr h="620000">
                <a:tc>
                  <a:txBody>
                    <a:bodyPr wrap="square"/>
                    <a:lstStyle/>
                    <a:p>
                      <a:r>
                        <a:rPr sz="1300" b="0">
                          <a:latin typeface="Times New Roman"/>
                        </a:rPr>
                        <a:t>5 Analysis and figures</a:t>
                      </a:r>
                    </a:p>
                  </a:txBody>
                  <a:tcPr marL="50000" marR="50000" marT="25000" marB="25000"/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latin typeface="Times New Roman"/>
                        </a:rPr>
                        <a:t>Reliability, ROC, histograms, refusal and error charts</a:t>
                      </a:r>
                    </a:p>
                  </a:txBody>
                  <a:tcPr marL="50000" marR="50000" marT="25000" marB="25000"/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latin typeface="Times New Roman"/>
                        </a:rPr>
                        <a:t>calibration_eval_utils.py, run_calibration_utils.py, make_figures.py</a:t>
                      </a:r>
                    </a:p>
                  </a:txBody>
                  <a:tcPr marL="50000" marR="50000" marT="25000" marB="25000"/>
                </a:tc>
              </a:tr>
              <a:tr h="620000">
                <a:tc>
                  <a:txBody>
                    <a:bodyPr wrap="square"/>
                    <a:lstStyle/>
                    <a:p>
                      <a:r>
                        <a:rPr sz="1300" b="0">
                          <a:latin typeface="Times New Roman"/>
                        </a:rPr>
                        <a:t>6 Demo chatbot</a:t>
                      </a:r>
                    </a:p>
                  </a:txBody>
                  <a:tcPr marL="50000" marR="50000" marT="25000" marB="25000"/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latin typeface="Times New Roman"/>
                        </a:rPr>
                        <a:t>Flask UI: answer + confidence + abstention</a:t>
                      </a:r>
                    </a:p>
                  </a:txBody>
                  <a:tcPr marL="50000" marR="50000" marT="25000" marB="25000"/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latin typeface="Times New Roman"/>
                        </a:rPr>
                        <a:t>chatbot_site/</a:t>
                      </a:r>
                    </a:p>
                  </a:txBody>
                  <a:tcPr marL="50000" marR="50000" marT="25000" marB="2500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998703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121556E8-0003-02C5-D37D-A5CC4CE44D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DFB67973-736B-B05D-D378-DA7CBE3EBD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50000"/>
            <a:ext cx="10515600" cy="2450000"/>
          </a:xfrm>
        </p:spPr>
        <p:txBody>
          <a:bodyPr/>
          <a:lstStyle/>
          <a:p>
            <a:pPr>
              <a:spcAft>
                <a:spcPts val="400"/>
              </a:spcAft>
            </a:pPr>
            <a:r>
              <a:rPr sz="1500">
                <a:latin typeface="Times New Roman"/>
              </a:rPr>
              <a:t>Dataset: 2,349 core QA pairs from public VIT documents (82% curriculum) + 980 supplementary pairs; 5 unanswerable categories.</a:t>
            </a:r>
          </a:p>
          <a:p>
            <a:pPr>
              <a:spcAft>
                <a:spcPts val="400"/>
              </a:spcAft>
            </a:pPr>
            <a:r>
              <a:rPr sz="1500">
                <a:latin typeface="Times New Roman"/>
              </a:rPr>
              <a:t>Pools: 2,537 answerable, 792 abstention (one canonical refusal string); mix ρ = 0 (Normal FT) and ρ = 0.15 (IDK FT).</a:t>
            </a:r>
          </a:p>
          <a:p>
            <a:pPr>
              <a:spcAft>
                <a:spcPts val="400"/>
              </a:spcAft>
            </a:pPr>
            <a:r>
              <a:rPr sz="1500">
                <a:latin typeface="Times New Roman"/>
              </a:rPr>
              <a:t>Phi-3-mini-4k-instruct, 4-bit NF4, LoRA r = 8, α = 16; 3 epochs, lr 2e-4, batch 1×8, seed 42; RTX 3050 Ti, 4 GB.</a:t>
            </a:r>
          </a:p>
          <a:p>
            <a:pPr>
              <a:spcAft>
                <a:spcPts val="400"/>
              </a:spcAft>
            </a:pPr>
            <a:r>
              <a:rPr sz="1500">
                <a:latin typeface="Times New Roman"/>
              </a:rPr>
              <a:t>All systems tested on the IDK-15 test split: 449 queries (370 answerable, 79 unanswerable); greedy decoding.</a:t>
            </a:r>
          </a:p>
        </p:txBody>
      </p:sp>
      <p:sp>
        <p:nvSpPr>
          <p:cNvPr id="4" name="object 2">
            <a:extLst>
              <a:ext uri="{FF2B5EF4-FFF2-40B4-BE49-F238E27FC236}">
                <a16:creationId xmlns:a16="http://schemas.microsoft.com/office/drawing/2014/main" xmlns="" id="{E386D544-A80A-B599-44C7-B40BA6ECC63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60248" y="681037"/>
            <a:ext cx="10515600" cy="576696"/>
          </a:xfrm>
          <a:prstGeom prst="rect">
            <a:avLst/>
          </a:prstGeom>
        </p:spPr>
        <p:txBody>
          <a:bodyPr vert="horz" wrap="square" lIns="0" tIns="113919" rIns="0" bIns="0" rtlCol="0">
            <a:spAutoFit/>
          </a:bodyPr>
          <a:lstStyle/>
          <a:p>
            <a:pPr marL="486409">
              <a:lnSpc>
                <a:spcPct val="100000"/>
              </a:lnSpc>
              <a:spcBef>
                <a:spcPts val="130"/>
              </a:spcBef>
            </a:pPr>
            <a:r>
              <a:rPr lang="en-IN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Experiments and Results (1/5): Dataset and Setup</a:t>
            </a:r>
            <a:endParaRPr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xmlns="" id="{5D376B32-FA12-4961-0DBF-EE57A7705B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C21BBC-35C1-4163-B59F-12E882240DC0}" type="datetime1">
              <a:rPr lang="en-I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05/10/26</a:t>
            </a:fld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8B0EF323-27AB-5372-4287-A24CA54114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76AAAC16-1233-230F-5D3B-645E6B2832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11</a:t>
            </a:fld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900000" y="4000000"/>
          <a:ext cx="10399997" cy="144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3333"/>
                <a:gridCol w="1588888"/>
                <a:gridCol w="1444444"/>
                <a:gridCol w="2022222"/>
                <a:gridCol w="1877777"/>
                <a:gridCol w="1733333"/>
              </a:tblGrid>
              <a:tr h="480000">
                <a:tc>
                  <a:txBody>
                    <a:bodyPr wrap="square"/>
                    <a:lstStyle/>
                    <a:p>
                      <a:r>
                        <a:rPr sz="1500" b="1">
                          <a:latin typeface="Times New Roman"/>
                        </a:rPr>
                        <a:t>Mixture</a:t>
                      </a:r>
                    </a:p>
                  </a:txBody>
                  <a:tcPr marL="50000" marR="50000" marT="25000" marB="25000"/>
                </a:tc>
                <a:tc>
                  <a:txBody>
                    <a:bodyPr wrap="square"/>
                    <a:lstStyle/>
                    <a:p>
                      <a:r>
                        <a:rPr sz="1500" b="1">
                          <a:latin typeface="Times New Roman"/>
                        </a:rPr>
                        <a:t>ρ (target)</a:t>
                      </a:r>
                    </a:p>
                  </a:txBody>
                  <a:tcPr marL="50000" marR="50000" marT="25000" marB="25000"/>
                </a:tc>
                <a:tc>
                  <a:txBody>
                    <a:bodyPr wrap="square"/>
                    <a:lstStyle/>
                    <a:p>
                      <a:r>
                        <a:rPr sz="1500" b="1">
                          <a:latin typeface="Times New Roman"/>
                        </a:rPr>
                        <a:t>Total</a:t>
                      </a:r>
                    </a:p>
                  </a:txBody>
                  <a:tcPr marL="50000" marR="50000" marT="25000" marB="25000"/>
                </a:tc>
                <a:tc>
                  <a:txBody>
                    <a:bodyPr wrap="square"/>
                    <a:lstStyle/>
                    <a:p>
                      <a:r>
                        <a:rPr sz="1500" b="1">
                          <a:latin typeface="Times New Roman"/>
                        </a:rPr>
                        <a:t>Train</a:t>
                      </a:r>
                    </a:p>
                  </a:txBody>
                  <a:tcPr marL="50000" marR="50000" marT="25000" marB="25000"/>
                </a:tc>
                <a:tc>
                  <a:txBody>
                    <a:bodyPr wrap="square"/>
                    <a:lstStyle/>
                    <a:p>
                      <a:r>
                        <a:rPr sz="1500" b="1">
                          <a:latin typeface="Times New Roman"/>
                        </a:rPr>
                        <a:t>Validation</a:t>
                      </a:r>
                    </a:p>
                  </a:txBody>
                  <a:tcPr marL="50000" marR="50000" marT="25000" marB="25000"/>
                </a:tc>
                <a:tc>
                  <a:txBody>
                    <a:bodyPr wrap="square"/>
                    <a:lstStyle/>
                    <a:p>
                      <a:r>
                        <a:rPr sz="1500" b="1">
                          <a:latin typeface="Times New Roman"/>
                        </a:rPr>
                        <a:t>Test</a:t>
                      </a:r>
                    </a:p>
                  </a:txBody>
                  <a:tcPr marL="50000" marR="50000" marT="25000" marB="25000"/>
                </a:tc>
              </a:tr>
              <a:tr h="480000">
                <a:tc>
                  <a:txBody>
                    <a:bodyPr wrap="square"/>
                    <a:lstStyle/>
                    <a:p>
                      <a:r>
                        <a:rPr sz="1500" b="0">
                          <a:latin typeface="Times New Roman"/>
                        </a:rPr>
                        <a:t>IDK-0</a:t>
                      </a:r>
                    </a:p>
                  </a:txBody>
                  <a:tcPr marL="50000" marR="50000" marT="25000" marB="25000"/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latin typeface="Times New Roman"/>
                        </a:rPr>
                        <a:t>0.00</a:t>
                      </a:r>
                    </a:p>
                  </a:txBody>
                  <a:tcPr marL="50000" marR="50000" marT="25000" marB="25000"/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latin typeface="Times New Roman"/>
                        </a:rPr>
                        <a:t>2537</a:t>
                      </a:r>
                    </a:p>
                  </a:txBody>
                  <a:tcPr marL="50000" marR="50000" marT="25000" marB="25000"/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latin typeface="Times New Roman"/>
                        </a:rPr>
                        <a:t>1775 (0)</a:t>
                      </a:r>
                    </a:p>
                  </a:txBody>
                  <a:tcPr marL="50000" marR="50000" marT="25000" marB="25000"/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latin typeface="Times New Roman"/>
                        </a:rPr>
                        <a:t>380 (0)</a:t>
                      </a:r>
                    </a:p>
                  </a:txBody>
                  <a:tcPr marL="50000" marR="50000" marT="25000" marB="25000"/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latin typeface="Times New Roman"/>
                        </a:rPr>
                        <a:t>382 (0)</a:t>
                      </a:r>
                    </a:p>
                  </a:txBody>
                  <a:tcPr marL="50000" marR="50000" marT="25000" marB="25000"/>
                </a:tc>
              </a:tr>
              <a:tr h="480000">
                <a:tc>
                  <a:txBody>
                    <a:bodyPr wrap="square"/>
                    <a:lstStyle/>
                    <a:p>
                      <a:r>
                        <a:rPr sz="1500" b="0">
                          <a:latin typeface="Times New Roman"/>
                        </a:rPr>
                        <a:t>IDK-15</a:t>
                      </a:r>
                    </a:p>
                  </a:txBody>
                  <a:tcPr marL="50000" marR="50000" marT="25000" marB="25000"/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latin typeface="Times New Roman"/>
                        </a:rPr>
                        <a:t>0.15</a:t>
                      </a:r>
                    </a:p>
                  </a:txBody>
                  <a:tcPr marL="50000" marR="50000" marT="25000" marB="25000"/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latin typeface="Times New Roman"/>
                        </a:rPr>
                        <a:t>2984</a:t>
                      </a:r>
                    </a:p>
                  </a:txBody>
                  <a:tcPr marL="50000" marR="50000" marT="25000" marB="25000"/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latin typeface="Times New Roman"/>
                        </a:rPr>
                        <a:t>2088 (312)</a:t>
                      </a:r>
                    </a:p>
                  </a:txBody>
                  <a:tcPr marL="50000" marR="50000" marT="25000" marB="25000"/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latin typeface="Times New Roman"/>
                        </a:rPr>
                        <a:t>447 (56)</a:t>
                      </a:r>
                    </a:p>
                  </a:txBody>
                  <a:tcPr marL="50000" marR="50000" marT="25000" marB="25000"/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latin typeface="Times New Roman"/>
                        </a:rPr>
                        <a:t>449 (79)</a:t>
                      </a:r>
                    </a:p>
                  </a:txBody>
                  <a:tcPr marL="50000" marR="50000" marT="25000" marB="25000"/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900000" y="5500000"/>
            <a:ext cx="10400000" cy="5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i="1">
                <a:latin typeface="Times New Roman"/>
              </a:rPr>
              <a:t>Table: partition sizes; abstention examples in parentheses. Metrics: HR, IDK P/R/F1, false refusals, token F1, ECE, Brier, NLL, AUROC.</a:t>
            </a:r>
          </a:p>
        </p:txBody>
      </p:sp>
    </p:spTree>
    <p:extLst>
      <p:ext uri="{BB962C8B-B14F-4D97-AF65-F5344CB8AC3E}">
        <p14:creationId xmlns:p14="http://schemas.microsoft.com/office/powerpoint/2010/main" val="366618880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BCC49A39-F362-DB35-B5DF-7E322AB9CA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004F33DD-84F0-A7F9-A1DC-A4DEA1A7D8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400"/>
              </a:spcAft>
            </a:pPr>
            <a:r>
              <a:rPr sz="1500" b="1">
                <a:latin typeface="Times New Roman"/>
              </a:rPr>
              <a:t>Conclusion</a:t>
            </a:r>
          </a:p>
          <a:p>
            <a:pPr>
              <a:spcAft>
                <a:spcPts val="400"/>
              </a:spcAft>
            </a:pPr>
            <a:r>
              <a:rPr sz="1500">
                <a:latin typeface="Times New Roman"/>
              </a:rPr>
              <a:t>Domain fine-tuning alone is not enough: it doubled answerable accuracy but removed abstention (HR 0.506 → 1.000).</a:t>
            </a:r>
          </a:p>
          <a:p>
            <a:pPr>
              <a:spcAft>
                <a:spcPts val="400"/>
              </a:spcAft>
            </a:pPr>
            <a:r>
              <a:rPr sz="1500">
                <a:latin typeface="Times New Roman"/>
              </a:rPr>
              <a:t>15% controlled abstention data cut HR to 0.139 (IDK F1 0.840) and improved ECE (0.304), Brier (0.285) and AUROC (0.810).</a:t>
            </a:r>
          </a:p>
          <a:p>
            <a:pPr>
              <a:spcAft>
                <a:spcPts val="400"/>
              </a:spcAft>
            </a:pPr>
            <a:r>
              <a:rPr sz="1500">
                <a:latin typeface="Times New Roman"/>
              </a:rPr>
              <a:t>Price: 4.1% false refusals; all systems remain over-confident; results are for one model, ratio, seed and institution.</a:t>
            </a:r>
          </a:p>
          <a:p>
            <a:pPr>
              <a:spcAft>
                <a:spcPts val="400"/>
              </a:spcAft>
            </a:pPr>
            <a:r>
              <a:rPr sz="1500" b="1">
                <a:latin typeface="Times New Roman"/>
              </a:rPr>
              <a:t>Future work</a:t>
            </a:r>
          </a:p>
          <a:p>
            <a:pPr>
              <a:spcAft>
                <a:spcPts val="400"/>
              </a:spcAft>
            </a:pPr>
            <a:r>
              <a:rPr sz="1500">
                <a:latin typeface="Times New Roman"/>
              </a:rPr>
              <a:t>Abstention-ratio sweep (10% and 20% splits already prepared) with several seeds; varied, context-dependent refusals.</a:t>
            </a:r>
          </a:p>
          <a:p>
            <a:pPr>
              <a:spcAft>
                <a:spcPts val="400"/>
              </a:spcAft>
            </a:pPr>
            <a:r>
              <a:rPr sz="1500">
                <a:latin typeface="Times New Roman"/>
              </a:rPr>
              <a:t>Temperature scaling and a confidence threshold; sampling-based and verbalised confidence.</a:t>
            </a:r>
          </a:p>
          <a:p>
            <a:pPr>
              <a:spcAft>
                <a:spcPts val="400"/>
              </a:spcAft>
            </a:pPr>
            <a:r>
              <a:rPr sz="1500">
                <a:latin typeface="Times New Roman"/>
              </a:rPr>
              <a:t>Better correctness checks (course codes, credits, NLI); combine with retrieval; other SLMs and institutions.</a:t>
            </a:r>
          </a:p>
        </p:txBody>
      </p:sp>
      <p:sp>
        <p:nvSpPr>
          <p:cNvPr id="4" name="object 2">
            <a:extLst>
              <a:ext uri="{FF2B5EF4-FFF2-40B4-BE49-F238E27FC236}">
                <a16:creationId xmlns:a16="http://schemas.microsoft.com/office/drawing/2014/main" xmlns="" id="{3754A46F-4AC3-5AF1-0B78-C0B5112BD14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60248" y="681037"/>
            <a:ext cx="10515600" cy="576696"/>
          </a:xfrm>
          <a:prstGeom prst="rect">
            <a:avLst/>
          </a:prstGeom>
        </p:spPr>
        <p:txBody>
          <a:bodyPr vert="horz" wrap="square" lIns="0" tIns="113919" rIns="0" bIns="0" rtlCol="0">
            <a:spAutoFit/>
          </a:bodyPr>
          <a:lstStyle/>
          <a:p>
            <a:pPr marL="486409">
              <a:lnSpc>
                <a:spcPct val="100000"/>
              </a:lnSpc>
              <a:spcBef>
                <a:spcPts val="130"/>
              </a:spcBef>
            </a:pPr>
            <a:r>
              <a:rPr lang="en-IN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 and Future Work</a:t>
            </a:r>
            <a:endParaRPr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xmlns="" id="{851BAA61-633E-E24B-7DEE-4B2A2B1FA9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C21BBC-35C1-4163-B59F-12E882240DC0}" type="datetime1">
              <a:rPr lang="en-I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05/10/26</a:t>
            </a:fld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AB93C553-2D0C-5A0A-39DC-21C43BD88B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6BF7A7E9-45BE-62F4-D3A6-F19DC6ABED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12</a:t>
            </a:fld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1749873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751EE89F-6F96-DF9C-768A-8B2A7BEAD2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Outcome Achieved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B65DBCB3-75D0-D33A-66EA-4DDA4A0221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400"/>
              </a:spcAft>
            </a:pPr>
            <a:r>
              <a:rPr sz="2000">
                <a:latin typeface="Times New Roman"/>
              </a:rPr>
              <a:t>Conference paper: manuscript completed in Springer LNCS format ("Confidence Calibration and Hallucination Reduction in Small Language Models"). Status: [update – submitted / accepted / published] with proof.</a:t>
            </a:r>
          </a:p>
          <a:p>
            <a:pPr>
              <a:spcAft>
                <a:spcPts val="400"/>
              </a:spcAft>
            </a:pPr>
            <a:r>
              <a:rPr sz="2000">
                <a:latin typeface="Times New Roman"/>
              </a:rPr>
              <a:t>Others: reproducible code, datasets, results and figures package; demo web chatbot.</a:t>
            </a:r>
          </a:p>
          <a:p>
            <a:pPr>
              <a:spcAft>
                <a:spcPts val="400"/>
              </a:spcAft>
            </a:pPr>
            <a:r>
              <a:rPr sz="2000">
                <a:latin typeface="Times New Roman"/>
              </a:rPr>
              <a:t>Outcome-achieved proof to be uploaded on or before 27 Oct 2026 in the given link.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7F86E621-0A63-DDD2-60A0-511D9D7C81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A886FF-1BA7-4533-94E6-869CE1E2970B}" type="datetime1">
              <a:rPr lang="en-IN" smtClean="0"/>
              <a:t>05/10/26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74966F66-9685-CC43-3B74-035A03CAF3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32234F7B-54B7-5C34-9356-A94BE39E21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13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7157071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2F70E1A0-FA4A-8258-6E10-9F00EDC0BC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2">
            <a:extLst>
              <a:ext uri="{FF2B5EF4-FFF2-40B4-BE49-F238E27FC236}">
                <a16:creationId xmlns:a16="http://schemas.microsoft.com/office/drawing/2014/main" xmlns="" id="{7CFC0C65-61CC-E657-43F7-99C8E536244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60248" y="681037"/>
            <a:ext cx="10515600" cy="576696"/>
          </a:xfrm>
          <a:prstGeom prst="rect">
            <a:avLst/>
          </a:prstGeom>
        </p:spPr>
        <p:txBody>
          <a:bodyPr vert="horz" wrap="square" lIns="0" tIns="113919" rIns="0" bIns="0" rtlCol="0">
            <a:spAutoFit/>
          </a:bodyPr>
          <a:lstStyle/>
          <a:p>
            <a:pPr marL="486409">
              <a:lnSpc>
                <a:spcPct val="100000"/>
              </a:lnSpc>
              <a:spcBef>
                <a:spcPts val="130"/>
              </a:spcBef>
            </a:pPr>
            <a:r>
              <a:rPr lang="en-IN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  <a:endParaRPr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Rectangle 3">
            <a:extLst>
              <a:ext uri="{FF2B5EF4-FFF2-40B4-BE49-F238E27FC236}">
                <a16:creationId xmlns:a16="http://schemas.microsoft.com/office/drawing/2014/main" xmlns="" id="{CC4F09CD-956A-B8B3-1183-9C28C80DDB9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45592" y="1442399"/>
            <a:ext cx="10515600" cy="4700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ts val="400"/>
              </a:spcAft>
              <a:buNone/>
            </a:pPr>
            <a:r>
              <a:rPr sz="1100">
                <a:latin typeface="Times New Roman"/>
              </a:rPr>
              <a:t>[48] H. Zhang et al., "R-Tuning: Instructing large language models to say 'I don't know'," in Proc. NAACL, 2024.</a:t>
            </a:r>
          </a:p>
          <a:p>
            <a:pPr>
              <a:spcAft>
                <a:spcPts val="400"/>
              </a:spcAft>
            </a:pPr>
            <a:r>
              <a:rPr sz="1100">
                <a:latin typeface="Times New Roman"/>
              </a:rPr>
              <a:t>[5] Q. Cheng et al., "Can AI assistants know what they don't know?" in Proc. ICML, 2024.</a:t>
            </a:r>
          </a:p>
          <a:p>
            <a:pPr>
              <a:spcAft>
                <a:spcPts val="400"/>
              </a:spcAft>
            </a:pPr>
            <a:r>
              <a:rPr sz="1100">
                <a:latin typeface="Times New Roman"/>
              </a:rPr>
              <a:t>[25] S. Kapoor et al., "Large language models must be taught to know what they don't know," in Proc. NeurIPS, 2024.</a:t>
            </a:r>
          </a:p>
          <a:p>
            <a:pPr>
              <a:spcAft>
                <a:spcPts val="400"/>
              </a:spcAft>
            </a:pPr>
            <a:r>
              <a:rPr sz="1100">
                <a:latin typeface="Times New Roman"/>
              </a:rPr>
              <a:t>[12] Z. Gekhman et al., "Does fine-tuning LLMs on new knowledge encourage hallucinations?" in Proc. EMNLP, 2024.</a:t>
            </a:r>
          </a:p>
          <a:p>
            <a:pPr>
              <a:spcAft>
                <a:spcPts val="400"/>
              </a:spcAft>
            </a:pPr>
            <a:r>
              <a:rPr sz="1100">
                <a:latin typeface="Times New Roman"/>
              </a:rPr>
              <a:t>[17] X. Hu et al., "Small updates, big doubts: Does parameter-efficient fine-tuning enhance hallucination detection?" arXiv:2602.11166, 2026.</a:t>
            </a:r>
          </a:p>
          <a:p>
            <a:pPr>
              <a:spcAft>
                <a:spcPts val="400"/>
              </a:spcAft>
            </a:pPr>
            <a:r>
              <a:rPr sz="1100">
                <a:latin typeface="Times New Roman"/>
              </a:rPr>
              <a:t>[42] B. Wen et al., "Know your limits: A survey of abstention in large language models," Trans. Assoc. Comput. Linguist., 2025.</a:t>
            </a:r>
          </a:p>
          <a:p>
            <a:pPr>
              <a:spcAft>
                <a:spcPts val="400"/>
              </a:spcAft>
            </a:pPr>
            <a:r>
              <a:rPr sz="1100">
                <a:latin typeface="Times New Roman"/>
              </a:rPr>
              <a:t>[14] C. Guo, G. Pleiss, Y. Sun and K. Q. Weinberger, "On calibration of modern neural networks," in Proc. ICML, PMLR vol. 70, pp. 1321-1330, 2017.</a:t>
            </a:r>
          </a:p>
          <a:p>
            <a:pPr>
              <a:spcAft>
                <a:spcPts val="400"/>
              </a:spcAft>
            </a:pPr>
            <a:r>
              <a:rPr sz="1100">
                <a:latin typeface="Times New Roman"/>
              </a:rPr>
              <a:t>[20] Z. Jiang, J. Araki, H. Ding and G. Neubig, "How can we know when language models know? On the calibration of language models for question answering," Trans. Assoc. Comput. Linguist., vol. 9, pp. 962-977, 2021.</a:t>
            </a:r>
          </a:p>
          <a:p>
            <a:pPr>
              <a:spcAft>
                <a:spcPts val="400"/>
              </a:spcAft>
            </a:pPr>
            <a:r>
              <a:rPr sz="1100">
                <a:latin typeface="Times New Roman"/>
              </a:rPr>
              <a:t>[8] T. Dettmers, A. Pagnoni, A. Holtzman and L. Zettlemoyer, "QLoRA: Efficient finetuning of quantized LLMs," in Proc. NeurIPS, 2023.</a:t>
            </a:r>
          </a:p>
          <a:p>
            <a:pPr>
              <a:spcAft>
                <a:spcPts val="400"/>
              </a:spcAft>
            </a:pPr>
            <a:r>
              <a:rPr sz="1100">
                <a:latin typeface="Times New Roman"/>
              </a:rPr>
              <a:t>[16] E. J. Hu et al., "LoRA: Low-rank adaptation of large language models," in Proc. ICLR, 2022.</a:t>
            </a:r>
          </a:p>
          <a:p>
            <a:pPr>
              <a:spcAft>
                <a:spcPts val="400"/>
              </a:spcAft>
            </a:pPr>
            <a:r>
              <a:rPr sz="1100">
                <a:latin typeface="Times New Roman"/>
              </a:rPr>
              <a:t>[1] M. Abdin et al., "Phi-3 technical report: A highly capable language model locally on your phone," arXiv:2404.14219, 2024.</a:t>
            </a:r>
          </a:p>
          <a:p>
            <a:pPr>
              <a:spcAft>
                <a:spcPts val="400"/>
              </a:spcAft>
            </a:pPr>
            <a:r>
              <a:rPr sz="1100">
                <a:latin typeface="Times New Roman"/>
              </a:rPr>
              <a:t>[31] A. Malinin and M. Gales, "Uncertainty estimation in autoregressive structured prediction," in Proc. ICLR, 2021.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B732D3DB-7149-E1E5-D5F9-4FC93A7888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7C7B6C-E68D-4047-8A1E-3C7BD2842AF7}" type="datetime1">
              <a:rPr lang="en-IN" smtClean="0"/>
              <a:t>05/10/26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CEBCABB1-7C63-52E3-2815-3651AE7E9F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E431EAEC-BCE3-2979-69C6-273309B9FF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14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10526248"/>
      </p:ext>
    </p:extLst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object 2">
            <a:extLst>
              <a:ext uri="{FF2B5EF4-FFF2-40B4-BE49-F238E27FC236}">
                <a16:creationId xmlns:a16="http://schemas.microsoft.com/office/drawing/2014/main" xmlns="" id="{E386D544-A80A-B599-44C7-B40BA6ECC63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60248" y="681037"/>
            <a:ext cx="10515600" cy="576696"/>
          </a:xfrm>
          <a:prstGeom prst="rect">
            <a:avLst/>
          </a:prstGeom>
        </p:spPr>
        <p:txBody>
          <a:bodyPr vert="horz" wrap="square" lIns="0" tIns="113919" rIns="0" bIns="0" rtlCol="0">
            <a:spAutoFit/>
          </a:bodyPr>
          <a:lstStyle/>
          <a:p>
            <a:pPr marL="486409">
              <a:lnSpc>
                <a:spcPct val="100000"/>
              </a:lnSpc>
              <a:spcBef>
                <a:spcPts val="130"/>
              </a:spcBef>
            </a:pPr>
            <a:r>
              <a:rPr lang="en-IN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Experiments and Results (2/5): Hallucination Reduction</a:t>
            </a:r>
            <a:endParaRPr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xmlns="" id="{5D376B32-FA12-4961-0DBF-EE57A7705B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C21BBC-35C1-4163-B59F-12E882240DC0}" type="datetime1">
              <a:rPr lang="en-I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05/10/26</a:t>
            </a:fld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8B0EF323-27AB-5372-4287-A24CA54114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76AAAC16-1233-230F-5D3B-645E6B2832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11</a:t>
            </a:fld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20000" y="1350000"/>
          <a:ext cx="11349997" cy="152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7113"/>
                <a:gridCol w="1170103"/>
                <a:gridCol w="1287113"/>
                <a:gridCol w="1170103"/>
                <a:gridCol w="1053092"/>
                <a:gridCol w="936082"/>
                <a:gridCol w="1521134"/>
                <a:gridCol w="1521134"/>
                <a:gridCol w="1404123"/>
              </a:tblGrid>
              <a:tr h="380000">
                <a:tc>
                  <a:txBody>
                    <a:bodyPr wrap="square"/>
                    <a:lstStyle/>
                    <a:p>
                      <a:r>
                        <a:rPr sz="1200" b="1">
                          <a:latin typeface="Times New Roman"/>
                        </a:rPr>
                        <a:t>System</a:t>
                      </a:r>
                    </a:p>
                  </a:txBody>
                  <a:tcPr marL="50000" marR="50000" marT="25000" marB="25000"/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latin typeface="Times New Roman"/>
                        </a:rPr>
                        <a:t>Refusal rate</a:t>
                      </a:r>
                    </a:p>
                  </a:txBody>
                  <a:tcPr marL="50000" marR="50000" marT="25000" marB="25000"/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latin typeface="Times New Roman"/>
                        </a:rPr>
                        <a:t>IDK precision</a:t>
                      </a:r>
                    </a:p>
                  </a:txBody>
                  <a:tcPr marL="50000" marR="50000" marT="25000" marB="25000"/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latin typeface="Times New Roman"/>
                        </a:rPr>
                        <a:t>IDK recall</a:t>
                      </a:r>
                    </a:p>
                  </a:txBody>
                  <a:tcPr marL="50000" marR="50000" marT="25000" marB="25000"/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latin typeface="Times New Roman"/>
                        </a:rPr>
                        <a:t>IDK F1</a:t>
                      </a:r>
                    </a:p>
                  </a:txBody>
                  <a:tcPr marL="50000" marR="50000" marT="25000" marB="25000"/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latin typeface="Times New Roman"/>
                        </a:rPr>
                        <a:t>HR</a:t>
                      </a:r>
                    </a:p>
                  </a:txBody>
                  <a:tcPr marL="50000" marR="50000" marT="25000" marB="25000"/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latin typeface="Times New Roman"/>
                        </a:rPr>
                        <a:t>Missed abst. (FN)</a:t>
                      </a:r>
                    </a:p>
                  </a:txBody>
                  <a:tcPr marL="50000" marR="50000" marT="25000" marB="25000"/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latin typeface="Times New Roman"/>
                        </a:rPr>
                        <a:t>False refusals (FP)</a:t>
                      </a:r>
                    </a:p>
                  </a:txBody>
                  <a:tcPr marL="50000" marR="50000" marT="25000" marB="25000"/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latin typeface="Times New Roman"/>
                        </a:rPr>
                        <a:t>Answerable acc.</a:t>
                      </a:r>
                    </a:p>
                  </a:txBody>
                  <a:tcPr marL="50000" marR="50000" marT="25000" marB="25000"/>
                </a:tc>
              </a:tr>
              <a:tr h="380000">
                <a:tc>
                  <a:txBody>
                    <a:bodyPr wrap="square"/>
                    <a:lstStyle/>
                    <a:p>
                      <a:r>
                        <a:rPr sz="1200" b="0">
                          <a:latin typeface="Times New Roman"/>
                        </a:rPr>
                        <a:t>Base</a:t>
                      </a:r>
                    </a:p>
                  </a:txBody>
                  <a:tcPr marL="50000" marR="50000" marT="25000" marB="25000"/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latin typeface="Times New Roman"/>
                        </a:rPr>
                        <a:t>0.345</a:t>
                      </a:r>
                    </a:p>
                  </a:txBody>
                  <a:tcPr marL="50000" marR="50000" marT="25000" marB="25000"/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latin typeface="Times New Roman"/>
                        </a:rPr>
                        <a:t>0.252</a:t>
                      </a:r>
                    </a:p>
                  </a:txBody>
                  <a:tcPr marL="50000" marR="50000" marT="25000" marB="25000"/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latin typeface="Times New Roman"/>
                        </a:rPr>
                        <a:t>0.494</a:t>
                      </a:r>
                    </a:p>
                  </a:txBody>
                  <a:tcPr marL="50000" marR="50000" marT="25000" marB="25000"/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latin typeface="Times New Roman"/>
                        </a:rPr>
                        <a:t>0.333</a:t>
                      </a:r>
                    </a:p>
                  </a:txBody>
                  <a:tcPr marL="50000" marR="50000" marT="25000" marB="25000"/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latin typeface="Times New Roman"/>
                        </a:rPr>
                        <a:t>0.506</a:t>
                      </a:r>
                    </a:p>
                  </a:txBody>
                  <a:tcPr marL="50000" marR="50000" marT="25000" marB="25000"/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latin typeface="Times New Roman"/>
                        </a:rPr>
                        <a:t>40</a:t>
                      </a:r>
                    </a:p>
                  </a:txBody>
                  <a:tcPr marL="50000" marR="50000" marT="25000" marB="25000"/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latin typeface="Times New Roman"/>
                        </a:rPr>
                        <a:t>116</a:t>
                      </a:r>
                    </a:p>
                  </a:txBody>
                  <a:tcPr marL="50000" marR="50000" marT="25000" marB="25000"/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latin typeface="Times New Roman"/>
                        </a:rPr>
                        <a:t>0.227</a:t>
                      </a:r>
                    </a:p>
                  </a:txBody>
                  <a:tcPr marL="50000" marR="50000" marT="25000" marB="25000"/>
                </a:tc>
              </a:tr>
              <a:tr h="380000">
                <a:tc>
                  <a:txBody>
                    <a:bodyPr wrap="square"/>
                    <a:lstStyle/>
                    <a:p>
                      <a:r>
                        <a:rPr sz="1200" b="0">
                          <a:latin typeface="Times New Roman"/>
                        </a:rPr>
                        <a:t>Normal FT</a:t>
                      </a:r>
                    </a:p>
                  </a:txBody>
                  <a:tcPr marL="50000" marR="50000" marT="25000" marB="25000"/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latin typeface="Times New Roman"/>
                        </a:rPr>
                        <a:t>0.000</a:t>
                      </a:r>
                    </a:p>
                  </a:txBody>
                  <a:tcPr marL="50000" marR="50000" marT="25000" marB="25000"/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latin typeface="Times New Roman"/>
                        </a:rPr>
                        <a:t>0.000</a:t>
                      </a:r>
                    </a:p>
                  </a:txBody>
                  <a:tcPr marL="50000" marR="50000" marT="25000" marB="25000"/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latin typeface="Times New Roman"/>
                        </a:rPr>
                        <a:t>0.000</a:t>
                      </a:r>
                    </a:p>
                  </a:txBody>
                  <a:tcPr marL="50000" marR="50000" marT="25000" marB="25000"/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latin typeface="Times New Roman"/>
                        </a:rPr>
                        <a:t>0.000</a:t>
                      </a:r>
                    </a:p>
                  </a:txBody>
                  <a:tcPr marL="50000" marR="50000" marT="25000" marB="25000"/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latin typeface="Times New Roman"/>
                        </a:rPr>
                        <a:t>1.000</a:t>
                      </a:r>
                    </a:p>
                  </a:txBody>
                  <a:tcPr marL="50000" marR="50000" marT="25000" marB="25000"/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latin typeface="Times New Roman"/>
                        </a:rPr>
                        <a:t>79</a:t>
                      </a:r>
                    </a:p>
                  </a:txBody>
                  <a:tcPr marL="50000" marR="50000" marT="25000" marB="25000"/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latin typeface="Times New Roman"/>
                        </a:rPr>
                        <a:t>0</a:t>
                      </a:r>
                    </a:p>
                  </a:txBody>
                  <a:tcPr marL="50000" marR="50000" marT="25000" marB="25000"/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latin typeface="Times New Roman"/>
                        </a:rPr>
                        <a:t>0.451</a:t>
                      </a:r>
                    </a:p>
                  </a:txBody>
                  <a:tcPr marL="50000" marR="50000" marT="25000" marB="25000"/>
                </a:tc>
              </a:tr>
              <a:tr h="380000">
                <a:tc>
                  <a:txBody>
                    <a:bodyPr wrap="square"/>
                    <a:lstStyle/>
                    <a:p>
                      <a:r>
                        <a:rPr sz="1200" b="0">
                          <a:latin typeface="Times New Roman"/>
                        </a:rPr>
                        <a:t>IDK FT</a:t>
                      </a:r>
                    </a:p>
                  </a:txBody>
                  <a:tcPr marL="50000" marR="50000" marT="25000" marB="25000"/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latin typeface="Times New Roman"/>
                        </a:rPr>
                        <a:t>0.185</a:t>
                      </a:r>
                    </a:p>
                  </a:txBody>
                  <a:tcPr marL="50000" marR="50000" marT="25000" marB="25000"/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latin typeface="Times New Roman"/>
                        </a:rPr>
                        <a:t>0.819</a:t>
                      </a:r>
                    </a:p>
                  </a:txBody>
                  <a:tcPr marL="50000" marR="50000" marT="25000" marB="25000"/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latin typeface="Times New Roman"/>
                        </a:rPr>
                        <a:t>0.861</a:t>
                      </a:r>
                    </a:p>
                  </a:txBody>
                  <a:tcPr marL="50000" marR="50000" marT="25000" marB="25000"/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latin typeface="Times New Roman"/>
                        </a:rPr>
                        <a:t>0.840</a:t>
                      </a:r>
                    </a:p>
                  </a:txBody>
                  <a:tcPr marL="50000" marR="50000" marT="25000" marB="25000"/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latin typeface="Times New Roman"/>
                        </a:rPr>
                        <a:t>0.139</a:t>
                      </a:r>
                    </a:p>
                  </a:txBody>
                  <a:tcPr marL="50000" marR="50000" marT="25000" marB="25000"/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latin typeface="Times New Roman"/>
                        </a:rPr>
                        <a:t>11</a:t>
                      </a:r>
                    </a:p>
                  </a:txBody>
                  <a:tcPr marL="50000" marR="50000" marT="25000" marB="25000"/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latin typeface="Times New Roman"/>
                        </a:rPr>
                        <a:t>15</a:t>
                      </a:r>
                    </a:p>
                  </a:txBody>
                  <a:tcPr marL="50000" marR="50000" marT="25000" marB="25000"/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latin typeface="Times New Roman"/>
                        </a:rPr>
                        <a:t>0.408</a:t>
                      </a:r>
                    </a:p>
                  </a:txBody>
                  <a:tcPr marL="50000" marR="50000" marT="25000" marB="25000"/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20000" y="3050000"/>
            <a:ext cx="5600000" cy="3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latin typeface="Times New Roman"/>
              </a:rPr>
              <a:t>• Base refuses half of the unanswerable questions (HR 0.506), but 116 of its 155 refusals are on answerable questions.</a:t>
            </a:r>
          </a:p>
          <a:p>
            <a:pPr>
              <a:spcAft>
                <a:spcPts val="600"/>
              </a:spcAft>
            </a:pPr>
            <a:r>
              <a:rPr sz="1500">
                <a:latin typeface="Times New Roman"/>
              </a:rPr>
              <a:t>• Normal FT refuses nothing: all 79 unanswerable questions answered (HR 1.000).</a:t>
            </a:r>
          </a:p>
          <a:p>
            <a:pPr>
              <a:spcAft>
                <a:spcPts val="600"/>
              </a:spcAft>
            </a:pPr>
            <a:r>
              <a:rPr sz="1500">
                <a:latin typeface="Times New Roman"/>
              </a:rPr>
              <a:t>• IDK FT: HR 0.139 (86% lower than Normal FT, 73% lower than Base), IDK F1 0.840, 15 false refusals (4.1%).</a:t>
            </a:r>
          </a:p>
        </p:txBody>
      </p:sp>
      <p:pic>
        <p:nvPicPr>
          <p:cNvPr id="9" name="Picture 8" descr="refusal_metr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00000" y="3000000"/>
            <a:ext cx="5500000" cy="3055556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object 2">
            <a:extLst>
              <a:ext uri="{FF2B5EF4-FFF2-40B4-BE49-F238E27FC236}">
                <a16:creationId xmlns:a16="http://schemas.microsoft.com/office/drawing/2014/main" xmlns="" id="{E386D544-A80A-B599-44C7-B40BA6ECC63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60248" y="681037"/>
            <a:ext cx="10515600" cy="576696"/>
          </a:xfrm>
          <a:prstGeom prst="rect">
            <a:avLst/>
          </a:prstGeom>
        </p:spPr>
        <p:txBody>
          <a:bodyPr vert="horz" wrap="square" lIns="0" tIns="113919" rIns="0" bIns="0" rtlCol="0">
            <a:spAutoFit/>
          </a:bodyPr>
          <a:lstStyle/>
          <a:p>
            <a:pPr marL="486409">
              <a:lnSpc>
                <a:spcPct val="100000"/>
              </a:lnSpc>
              <a:spcBef>
                <a:spcPts val="130"/>
              </a:spcBef>
            </a:pPr>
            <a:r>
              <a:rPr lang="en-IN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Experiments and Results (3/5): Calibration</a:t>
            </a:r>
            <a:endParaRPr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xmlns="" id="{5D376B32-FA12-4961-0DBF-EE57A7705B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C21BBC-35C1-4163-B59F-12E882240DC0}" type="datetime1">
              <a:rPr lang="en-I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05/10/26</a:t>
            </a:fld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8B0EF323-27AB-5372-4287-A24CA54114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76AAAC16-1233-230F-5D3B-645E6B2832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11</a:t>
            </a:fld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20000" y="1350000"/>
          <a:ext cx="6099998" cy="264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85185"/>
                <a:gridCol w="1129629"/>
                <a:gridCol w="1355555"/>
                <a:gridCol w="1129629"/>
              </a:tblGrid>
              <a:tr h="330000">
                <a:tc>
                  <a:txBody>
                    <a:bodyPr wrap="square"/>
                    <a:lstStyle/>
                    <a:p>
                      <a:r>
                        <a:rPr sz="1200" b="1">
                          <a:latin typeface="Times New Roman"/>
                        </a:rPr>
                        <a:t>Metric</a:t>
                      </a:r>
                    </a:p>
                  </a:txBody>
                  <a:tcPr marL="50000" marR="50000" marT="25000" marB="25000"/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latin typeface="Times New Roman"/>
                        </a:rPr>
                        <a:t>Base</a:t>
                      </a:r>
                    </a:p>
                  </a:txBody>
                  <a:tcPr marL="50000" marR="50000" marT="25000" marB="25000"/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latin typeface="Times New Roman"/>
                        </a:rPr>
                        <a:t>Normal FT</a:t>
                      </a:r>
                    </a:p>
                  </a:txBody>
                  <a:tcPr marL="50000" marR="50000" marT="25000" marB="25000"/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latin typeface="Times New Roman"/>
                        </a:rPr>
                        <a:t>IDK FT</a:t>
                      </a:r>
                    </a:p>
                  </a:txBody>
                  <a:tcPr marL="50000" marR="50000" marT="25000" marB="25000"/>
                </a:tc>
              </a:tr>
              <a:tr h="330000">
                <a:tc>
                  <a:txBody>
                    <a:bodyPr wrap="square"/>
                    <a:lstStyle/>
                    <a:p>
                      <a:r>
                        <a:rPr sz="1200" b="0">
                          <a:latin typeface="Times New Roman"/>
                        </a:rPr>
                        <a:t>Accuracy (refusal-aware)</a:t>
                      </a:r>
                    </a:p>
                  </a:txBody>
                  <a:tcPr marL="50000" marR="50000" marT="25000" marB="25000"/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latin typeface="Times New Roman"/>
                        </a:rPr>
                        <a:t>0.100</a:t>
                      </a:r>
                    </a:p>
                  </a:txBody>
                  <a:tcPr marL="50000" marR="50000" marT="25000" marB="25000"/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latin typeface="Times New Roman"/>
                        </a:rPr>
                        <a:t>0.327</a:t>
                      </a:r>
                    </a:p>
                  </a:txBody>
                  <a:tcPr marL="50000" marR="50000" marT="25000" marB="25000"/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latin typeface="Times New Roman"/>
                        </a:rPr>
                        <a:t>0.477</a:t>
                      </a:r>
                    </a:p>
                  </a:txBody>
                  <a:tcPr marL="50000" marR="50000" marT="25000" marB="25000"/>
                </a:tc>
              </a:tr>
              <a:tr h="330000">
                <a:tc>
                  <a:txBody>
                    <a:bodyPr wrap="square"/>
                    <a:lstStyle/>
                    <a:p>
                      <a:r>
                        <a:rPr sz="1200" b="0">
                          <a:latin typeface="Times New Roman"/>
                        </a:rPr>
                        <a:t>Exact match</a:t>
                      </a:r>
                    </a:p>
                  </a:txBody>
                  <a:tcPr marL="50000" marR="50000" marT="25000" marB="25000"/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latin typeface="Times New Roman"/>
                        </a:rPr>
                        <a:t>0.000</a:t>
                      </a:r>
                    </a:p>
                  </a:txBody>
                  <a:tcPr marL="50000" marR="50000" marT="25000" marB="25000"/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latin typeface="Times New Roman"/>
                        </a:rPr>
                        <a:t>0.051</a:t>
                      </a:r>
                    </a:p>
                  </a:txBody>
                  <a:tcPr marL="50000" marR="50000" marT="25000" marB="25000"/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latin typeface="Times New Roman"/>
                        </a:rPr>
                        <a:t>0.189</a:t>
                      </a:r>
                    </a:p>
                  </a:txBody>
                  <a:tcPr marL="50000" marR="50000" marT="25000" marB="25000"/>
                </a:tc>
              </a:tr>
              <a:tr h="330000">
                <a:tc>
                  <a:txBody>
                    <a:bodyPr wrap="square"/>
                    <a:lstStyle/>
                    <a:p>
                      <a:r>
                        <a:rPr sz="1200" b="0">
                          <a:latin typeface="Times New Roman"/>
                        </a:rPr>
                        <a:t>Token F1</a:t>
                      </a:r>
                    </a:p>
                  </a:txBody>
                  <a:tcPr marL="50000" marR="50000" marT="25000" marB="25000"/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latin typeface="Times New Roman"/>
                        </a:rPr>
                        <a:t>0.168</a:t>
                      </a:r>
                    </a:p>
                  </a:txBody>
                  <a:tcPr marL="50000" marR="50000" marT="25000" marB="25000"/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latin typeface="Times New Roman"/>
                        </a:rPr>
                        <a:t>0.391</a:t>
                      </a:r>
                    </a:p>
                  </a:txBody>
                  <a:tcPr marL="50000" marR="50000" marT="25000" marB="25000"/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latin typeface="Times New Roman"/>
                        </a:rPr>
                        <a:t>0.515</a:t>
                      </a:r>
                    </a:p>
                  </a:txBody>
                  <a:tcPr marL="50000" marR="50000" marT="25000" marB="25000"/>
                </a:tc>
              </a:tr>
              <a:tr h="330000">
                <a:tc>
                  <a:txBody>
                    <a:bodyPr wrap="square"/>
                    <a:lstStyle/>
                    <a:p>
                      <a:r>
                        <a:rPr sz="1200" b="0">
                          <a:latin typeface="Times New Roman"/>
                        </a:rPr>
                        <a:t>ECE</a:t>
                      </a:r>
                    </a:p>
                  </a:txBody>
                  <a:tcPr marL="50000" marR="50000" marT="25000" marB="25000"/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latin typeface="Times New Roman"/>
                        </a:rPr>
                        <a:t>0.622</a:t>
                      </a:r>
                    </a:p>
                  </a:txBody>
                  <a:tcPr marL="50000" marR="50000" marT="25000" marB="25000"/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latin typeface="Times New Roman"/>
                        </a:rPr>
                        <a:t>0.408</a:t>
                      </a:r>
                    </a:p>
                  </a:txBody>
                  <a:tcPr marL="50000" marR="50000" marT="25000" marB="25000"/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latin typeface="Times New Roman"/>
                        </a:rPr>
                        <a:t>0.304</a:t>
                      </a:r>
                    </a:p>
                  </a:txBody>
                  <a:tcPr marL="50000" marR="50000" marT="25000" marB="25000"/>
                </a:tc>
              </a:tr>
              <a:tr h="330000">
                <a:tc>
                  <a:txBody>
                    <a:bodyPr wrap="square"/>
                    <a:lstStyle/>
                    <a:p>
                      <a:r>
                        <a:rPr sz="1200" b="0">
                          <a:latin typeface="Times New Roman"/>
                        </a:rPr>
                        <a:t>Brier score</a:t>
                      </a:r>
                    </a:p>
                  </a:txBody>
                  <a:tcPr marL="50000" marR="50000" marT="25000" marB="25000"/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latin typeface="Times New Roman"/>
                        </a:rPr>
                        <a:t>0.480</a:t>
                      </a:r>
                    </a:p>
                  </a:txBody>
                  <a:tcPr marL="50000" marR="50000" marT="25000" marB="25000"/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latin typeface="Times New Roman"/>
                        </a:rPr>
                        <a:t>0.351</a:t>
                      </a:r>
                    </a:p>
                  </a:txBody>
                  <a:tcPr marL="50000" marR="50000" marT="25000" marB="25000"/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latin typeface="Times New Roman"/>
                        </a:rPr>
                        <a:t>0.285</a:t>
                      </a:r>
                    </a:p>
                  </a:txBody>
                  <a:tcPr marL="50000" marR="50000" marT="25000" marB="25000"/>
                </a:tc>
              </a:tr>
              <a:tr h="330000">
                <a:tc>
                  <a:txBody>
                    <a:bodyPr wrap="square"/>
                    <a:lstStyle/>
                    <a:p>
                      <a:r>
                        <a:rPr sz="1200" b="0">
                          <a:latin typeface="Times New Roman"/>
                        </a:rPr>
                        <a:t>Reference NLL</a:t>
                      </a:r>
                    </a:p>
                  </a:txBody>
                  <a:tcPr marL="50000" marR="50000" marT="25000" marB="25000"/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latin typeface="Times New Roman"/>
                        </a:rPr>
                        <a:t>2.405</a:t>
                      </a:r>
                    </a:p>
                  </a:txBody>
                  <a:tcPr marL="50000" marR="50000" marT="25000" marB="25000"/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latin typeface="Times New Roman"/>
                        </a:rPr>
                        <a:t>1.663</a:t>
                      </a:r>
                    </a:p>
                  </a:txBody>
                  <a:tcPr marL="50000" marR="50000" marT="25000" marB="25000"/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latin typeface="Times New Roman"/>
                        </a:rPr>
                        <a:t>0.965</a:t>
                      </a:r>
                    </a:p>
                  </a:txBody>
                  <a:tcPr marL="50000" marR="50000" marT="25000" marB="25000"/>
                </a:tc>
              </a:tr>
              <a:tr h="330000">
                <a:tc>
                  <a:txBody>
                    <a:bodyPr wrap="square"/>
                    <a:lstStyle/>
                    <a:p>
                      <a:r>
                        <a:rPr sz="1200" b="0">
                          <a:latin typeface="Times New Roman"/>
                        </a:rPr>
                        <a:t>AUROC</a:t>
                      </a:r>
                    </a:p>
                  </a:txBody>
                  <a:tcPr marL="50000" marR="50000" marT="25000" marB="25000"/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latin typeface="Times New Roman"/>
                        </a:rPr>
                        <a:t>0.557</a:t>
                      </a:r>
                    </a:p>
                  </a:txBody>
                  <a:tcPr marL="50000" marR="50000" marT="25000" marB="25000"/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latin typeface="Times New Roman"/>
                        </a:rPr>
                        <a:t>0.764</a:t>
                      </a:r>
                    </a:p>
                  </a:txBody>
                  <a:tcPr marL="50000" marR="50000" marT="25000" marB="25000"/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latin typeface="Times New Roman"/>
                        </a:rPr>
                        <a:t>0.810</a:t>
                      </a:r>
                    </a:p>
                  </a:txBody>
                  <a:tcPr marL="50000" marR="50000" marT="25000" marB="25000"/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20000" y="4150000"/>
            <a:ext cx="6100000" cy="2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>
                <a:latin typeface="Times New Roman"/>
              </a:rPr>
              <a:t>• ECE falls 51% from Base to IDK FT (25% of it from abstention data); Brier and AUROC follow.</a:t>
            </a:r>
          </a:p>
          <a:p>
            <a:pPr>
              <a:spcAft>
                <a:spcPts val="400"/>
              </a:spcAft>
            </a:pPr>
            <a:r>
              <a:rPr sz="1400">
                <a:latin typeface="Times New Roman"/>
              </a:rPr>
              <a:t>• All three curves sit below the diagonal: every system is still over-confident (IDK FT is right only 19% of the time at confidence ≈ 0.65).</a:t>
            </a:r>
          </a:p>
          <a:p>
            <a:pPr>
              <a:spcAft>
                <a:spcPts val="400"/>
              </a:spcAft>
            </a:pPr>
            <a:r>
              <a:rPr sz="1400">
                <a:latin typeface="Times New Roman"/>
              </a:rPr>
              <a:t>• Part of the gain is confident repetition of the fixed refusal sentence.</a:t>
            </a:r>
          </a:p>
        </p:txBody>
      </p:sp>
      <p:pic>
        <p:nvPicPr>
          <p:cNvPr id="9" name="Picture 8" descr="reliabil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00000" y="1350000"/>
            <a:ext cx="5059155" cy="4750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object 2">
            <a:extLst>
              <a:ext uri="{FF2B5EF4-FFF2-40B4-BE49-F238E27FC236}">
                <a16:creationId xmlns:a16="http://schemas.microsoft.com/office/drawing/2014/main" xmlns="" id="{E386D544-A80A-B599-44C7-B40BA6ECC63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60248" y="681037"/>
            <a:ext cx="10515600" cy="576696"/>
          </a:xfrm>
          <a:prstGeom prst="rect">
            <a:avLst/>
          </a:prstGeom>
        </p:spPr>
        <p:txBody>
          <a:bodyPr vert="horz" wrap="square" lIns="0" tIns="113919" rIns="0" bIns="0" rtlCol="0">
            <a:spAutoFit/>
          </a:bodyPr>
          <a:lstStyle/>
          <a:p>
            <a:pPr marL="486409">
              <a:lnSpc>
                <a:spcPct val="100000"/>
              </a:lnSpc>
              <a:spcBef>
                <a:spcPts val="130"/>
              </a:spcBef>
            </a:pPr>
            <a:r>
              <a:rPr lang="en-IN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Experiments and Results (4/5): Confidence and Cost</a:t>
            </a:r>
            <a:endParaRPr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xmlns="" id="{5D376B32-FA12-4961-0DBF-EE57A7705B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C21BBC-35C1-4163-B59F-12E882240DC0}" type="datetime1">
              <a:rPr lang="en-I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05/10/26</a:t>
            </a:fld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8B0EF323-27AB-5372-4287-A24CA54114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76AAAC16-1233-230F-5D3B-645E6B2832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11</a:t>
            </a:fld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 descr="confidence_hi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0000" y="1330000"/>
            <a:ext cx="8600000" cy="3098309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20000" y="4350000"/>
            <a:ext cx="11350000" cy="1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>
                <a:latin typeface="Times New Roman"/>
              </a:rPr>
              <a:t>• Base: correct and wrong answers overlap (AUROC 0.557). Normal FT 0.764. IDK FT 0.810, with a peak of correct answers at 0.95–1.0, mostly canonical refusals.</a:t>
            </a:r>
          </a:p>
          <a:p>
            <a:pPr>
              <a:spcAft>
                <a:spcPts val="400"/>
              </a:spcAft>
            </a:pPr>
            <a:r>
              <a:rPr sz="1400">
                <a:latin typeface="Times New Roman"/>
              </a:rPr>
              <a:t>• At a false-positive rate of 0.1 IDK FT keeps about 43% of its correct answers (Normal FT 25%); the gain is in the high-confidence region.</a:t>
            </a:r>
          </a:p>
          <a:p>
            <a:pPr>
              <a:spcAft>
                <a:spcPts val="400"/>
              </a:spcAft>
            </a:pPr>
            <a:r>
              <a:rPr sz="1400">
                <a:latin typeface="Times New Roman"/>
              </a:rPr>
              <a:t>• Cost: 15 false refusals of 370 (4.1%), accuracy 0.451 → 0.408 (167 → 151 correct) to avoid 68 hallucinations – about four per correct answer lost.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object 2">
            <a:extLst>
              <a:ext uri="{FF2B5EF4-FFF2-40B4-BE49-F238E27FC236}">
                <a16:creationId xmlns:a16="http://schemas.microsoft.com/office/drawing/2014/main" xmlns="" id="{E386D544-A80A-B599-44C7-B40BA6ECC63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60248" y="681037"/>
            <a:ext cx="10515600" cy="576696"/>
          </a:xfrm>
          <a:prstGeom prst="rect">
            <a:avLst/>
          </a:prstGeom>
        </p:spPr>
        <p:txBody>
          <a:bodyPr vert="horz" wrap="square" lIns="0" tIns="113919" rIns="0" bIns="0" rtlCol="0">
            <a:spAutoFit/>
          </a:bodyPr>
          <a:lstStyle/>
          <a:p>
            <a:pPr marL="486409">
              <a:lnSpc>
                <a:spcPct val="100000"/>
              </a:lnSpc>
              <a:spcBef>
                <a:spcPts val="130"/>
              </a:spcBef>
            </a:pPr>
            <a:r>
              <a:rPr lang="en-IN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Experiments and Results (5/5): Ablation, Errors and Limits</a:t>
            </a:r>
            <a:endParaRPr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xmlns="" id="{5D376B32-FA12-4961-0DBF-EE57A7705B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C21BBC-35C1-4163-B59F-12E882240DC0}" type="datetime1">
              <a:rPr lang="en-I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05/10/26</a:t>
            </a:fld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8B0EF323-27AB-5372-4287-A24CA54114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76AAAC16-1233-230F-5D3B-645E6B2832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11</a:t>
            </a:fld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20000" y="1350000"/>
          <a:ext cx="6299998" cy="342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7894"/>
                <a:gridCol w="2321052"/>
                <a:gridCol w="2321052"/>
              </a:tblGrid>
              <a:tr h="380000">
                <a:tc>
                  <a:txBody>
                    <a:bodyPr wrap="square"/>
                    <a:lstStyle/>
                    <a:p>
                      <a:r>
                        <a:rPr sz="1100" b="1">
                          <a:latin typeface="Times New Roman"/>
                        </a:rPr>
                        <a:t>Metric</a:t>
                      </a:r>
                    </a:p>
                  </a:txBody>
                  <a:tcPr marL="50000" marR="50000" marT="25000" marB="25000"/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latin typeface="Times New Roman"/>
                        </a:rPr>
                        <a:t>Domain adaptation (Base → Normal FT)</a:t>
                      </a:r>
                    </a:p>
                  </a:txBody>
                  <a:tcPr marL="50000" marR="50000" marT="25000" marB="25000"/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latin typeface="Times New Roman"/>
                        </a:rPr>
                        <a:t>Abstention data (Normal FT → IDK FT)</a:t>
                      </a:r>
                    </a:p>
                  </a:txBody>
                  <a:tcPr marL="50000" marR="50000" marT="25000" marB="25000"/>
                </a:tc>
              </a:tr>
              <a:tr h="380000">
                <a:tc>
                  <a:txBody>
                    <a:bodyPr wrap="square"/>
                    <a:lstStyle/>
                    <a:p>
                      <a:r>
                        <a:rPr sz="1100" b="0">
                          <a:latin typeface="Times New Roman"/>
                        </a:rPr>
                        <a:t>Hallucination rate</a:t>
                      </a:r>
                    </a:p>
                  </a:txBody>
                  <a:tcPr marL="50000" marR="50000" marT="25000" marB="25000"/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latin typeface="Times New Roman"/>
                        </a:rPr>
                        <a:t>+0.494 (0.506 → 1.000)</a:t>
                      </a:r>
                    </a:p>
                  </a:txBody>
                  <a:tcPr marL="50000" marR="50000" marT="25000" marB="25000"/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latin typeface="Times New Roman"/>
                        </a:rPr>
                        <a:t>−0.861 (1.000 → 0.139)</a:t>
                      </a:r>
                    </a:p>
                  </a:txBody>
                  <a:tcPr marL="50000" marR="50000" marT="25000" marB="25000"/>
                </a:tc>
              </a:tr>
              <a:tr h="380000">
                <a:tc>
                  <a:txBody>
                    <a:bodyPr wrap="square"/>
                    <a:lstStyle/>
                    <a:p>
                      <a:r>
                        <a:rPr sz="1100" b="0">
                          <a:latin typeface="Times New Roman"/>
                        </a:rPr>
                        <a:t>IDK F1</a:t>
                      </a:r>
                    </a:p>
                  </a:txBody>
                  <a:tcPr marL="50000" marR="50000" marT="25000" marB="25000"/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latin typeface="Times New Roman"/>
                        </a:rPr>
                        <a:t>−0.333</a:t>
                      </a:r>
                    </a:p>
                  </a:txBody>
                  <a:tcPr marL="50000" marR="50000" marT="25000" marB="25000"/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latin typeface="Times New Roman"/>
                        </a:rPr>
                        <a:t>+0.840</a:t>
                      </a:r>
                    </a:p>
                  </a:txBody>
                  <a:tcPr marL="50000" marR="50000" marT="25000" marB="25000"/>
                </a:tc>
              </a:tr>
              <a:tr h="380000">
                <a:tc>
                  <a:txBody>
                    <a:bodyPr wrap="square"/>
                    <a:lstStyle/>
                    <a:p>
                      <a:r>
                        <a:rPr sz="1100" b="0">
                          <a:latin typeface="Times New Roman"/>
                        </a:rPr>
                        <a:t>False refusal rate</a:t>
                      </a:r>
                    </a:p>
                  </a:txBody>
                  <a:tcPr marL="50000" marR="50000" marT="25000" marB="25000"/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latin typeface="Times New Roman"/>
                        </a:rPr>
                        <a:t>−0.314</a:t>
                      </a:r>
                    </a:p>
                  </a:txBody>
                  <a:tcPr marL="50000" marR="50000" marT="25000" marB="25000"/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latin typeface="Times New Roman"/>
                        </a:rPr>
                        <a:t>+0.041</a:t>
                      </a:r>
                    </a:p>
                  </a:txBody>
                  <a:tcPr marL="50000" marR="50000" marT="25000" marB="25000"/>
                </a:tc>
              </a:tr>
              <a:tr h="380000">
                <a:tc>
                  <a:txBody>
                    <a:bodyPr wrap="square"/>
                    <a:lstStyle/>
                    <a:p>
                      <a:r>
                        <a:rPr sz="1100" b="0">
                          <a:latin typeface="Times New Roman"/>
                        </a:rPr>
                        <a:t>Answerable accuracy</a:t>
                      </a:r>
                    </a:p>
                  </a:txBody>
                  <a:tcPr marL="50000" marR="50000" marT="25000" marB="25000"/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latin typeface="Times New Roman"/>
                        </a:rPr>
                        <a:t>+0.224</a:t>
                      </a:r>
                    </a:p>
                  </a:txBody>
                  <a:tcPr marL="50000" marR="50000" marT="25000" marB="25000"/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latin typeface="Times New Roman"/>
                        </a:rPr>
                        <a:t>−0.043</a:t>
                      </a:r>
                    </a:p>
                  </a:txBody>
                  <a:tcPr marL="50000" marR="50000" marT="25000" marB="25000"/>
                </a:tc>
              </a:tr>
              <a:tr h="380000">
                <a:tc>
                  <a:txBody>
                    <a:bodyPr wrap="square"/>
                    <a:lstStyle/>
                    <a:p>
                      <a:r>
                        <a:rPr sz="1100" b="0">
                          <a:latin typeface="Times New Roman"/>
                        </a:rPr>
                        <a:t>Token F1</a:t>
                      </a:r>
                    </a:p>
                  </a:txBody>
                  <a:tcPr marL="50000" marR="50000" marT="25000" marB="25000"/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latin typeface="Times New Roman"/>
                        </a:rPr>
                        <a:t>+0.223</a:t>
                      </a:r>
                    </a:p>
                  </a:txBody>
                  <a:tcPr marL="50000" marR="50000" marT="25000" marB="25000"/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latin typeface="Times New Roman"/>
                        </a:rPr>
                        <a:t>+0.124</a:t>
                      </a:r>
                    </a:p>
                  </a:txBody>
                  <a:tcPr marL="50000" marR="50000" marT="25000" marB="25000"/>
                </a:tc>
              </a:tr>
              <a:tr h="380000">
                <a:tc>
                  <a:txBody>
                    <a:bodyPr wrap="square"/>
                    <a:lstStyle/>
                    <a:p>
                      <a:r>
                        <a:rPr sz="1100" b="0">
                          <a:latin typeface="Times New Roman"/>
                        </a:rPr>
                        <a:t>ECE</a:t>
                      </a:r>
                    </a:p>
                  </a:txBody>
                  <a:tcPr marL="50000" marR="50000" marT="25000" marB="25000"/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latin typeface="Times New Roman"/>
                        </a:rPr>
                        <a:t>−0.214</a:t>
                      </a:r>
                    </a:p>
                  </a:txBody>
                  <a:tcPr marL="50000" marR="50000" marT="25000" marB="25000"/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latin typeface="Times New Roman"/>
                        </a:rPr>
                        <a:t>−0.104</a:t>
                      </a:r>
                    </a:p>
                  </a:txBody>
                  <a:tcPr marL="50000" marR="50000" marT="25000" marB="25000"/>
                </a:tc>
              </a:tr>
              <a:tr h="380000">
                <a:tc>
                  <a:txBody>
                    <a:bodyPr wrap="square"/>
                    <a:lstStyle/>
                    <a:p>
                      <a:r>
                        <a:rPr sz="1100" b="0">
                          <a:latin typeface="Times New Roman"/>
                        </a:rPr>
                        <a:t>Brier</a:t>
                      </a:r>
                    </a:p>
                  </a:txBody>
                  <a:tcPr marL="50000" marR="50000" marT="25000" marB="25000"/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latin typeface="Times New Roman"/>
                        </a:rPr>
                        <a:t>−0.129</a:t>
                      </a:r>
                    </a:p>
                  </a:txBody>
                  <a:tcPr marL="50000" marR="50000" marT="25000" marB="25000"/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latin typeface="Times New Roman"/>
                        </a:rPr>
                        <a:t>−0.066</a:t>
                      </a:r>
                    </a:p>
                  </a:txBody>
                  <a:tcPr marL="50000" marR="50000" marT="25000" marB="25000"/>
                </a:tc>
              </a:tr>
              <a:tr h="380000">
                <a:tc>
                  <a:txBody>
                    <a:bodyPr wrap="square"/>
                    <a:lstStyle/>
                    <a:p>
                      <a:r>
                        <a:rPr sz="1100" b="0">
                          <a:latin typeface="Times New Roman"/>
                        </a:rPr>
                        <a:t>AUROC</a:t>
                      </a:r>
                    </a:p>
                  </a:txBody>
                  <a:tcPr marL="50000" marR="50000" marT="25000" marB="25000"/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latin typeface="Times New Roman"/>
                        </a:rPr>
                        <a:t>+0.207</a:t>
                      </a:r>
                    </a:p>
                  </a:txBody>
                  <a:tcPr marL="50000" marR="50000" marT="25000" marB="25000"/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latin typeface="Times New Roman"/>
                        </a:rPr>
                        <a:t>+0.046</a:t>
                      </a:r>
                    </a:p>
                  </a:txBody>
                  <a:tcPr marL="50000" marR="50000" marT="25000" marB="25000"/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950000" y="1330000"/>
            <a:ext cx="4900000" cy="4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500" b="1">
                <a:latin typeface="Times New Roman"/>
              </a:rPr>
              <a:t>Error analysis (IDK FT)</a:t>
            </a:r>
          </a:p>
          <a:p>
            <a:pPr>
              <a:spcAft>
                <a:spcPts val="400"/>
              </a:spcAft>
            </a:pPr>
            <a:r>
              <a:rPr sz="1300" b="0">
                <a:latin typeface="Times New Roman"/>
              </a:rPr>
              <a:t>• 11 missed abstentions: plausible fake course codes and details absent from the documents.</a:t>
            </a:r>
          </a:p>
          <a:p>
            <a:pPr>
              <a:spcAft>
                <a:spcPts val="400"/>
              </a:spcAft>
            </a:pPr>
            <a:r>
              <a:rPr sz="1300" b="0">
                <a:latin typeface="Times New Roman"/>
              </a:rPr>
              <a:t>• 15 false refusals: questions worded like refusal examples; confidence above 0.95.</a:t>
            </a:r>
          </a:p>
          <a:p>
            <a:pPr>
              <a:spcAft>
                <a:spcPts val="400"/>
              </a:spcAft>
            </a:pPr>
            <a:r>
              <a:rPr sz="1300" b="0">
                <a:latin typeface="Times New Roman"/>
              </a:rPr>
              <a:t>• Most errors: wrong numbers on answerable questions (limited memory of a 3.8 B model).</a:t>
            </a:r>
          </a:p>
          <a:p>
            <a:pPr>
              <a:spcAft>
                <a:spcPts val="400"/>
              </a:spcAft>
            </a:pPr>
            <a:r>
              <a:rPr sz="1500" b="1">
                <a:latin typeface="Times New Roman"/>
              </a:rPr>
              <a:t>Limitations</a:t>
            </a:r>
          </a:p>
          <a:p>
            <a:pPr>
              <a:spcAft>
                <a:spcPts val="400"/>
              </a:spcAft>
            </a:pPr>
            <a:r>
              <a:rPr sz="1300" b="0">
                <a:latin typeface="Times New Roman"/>
              </a:rPr>
              <a:t>• One model, one ratio (15%), one seed, one institution; HR 95% interval ≈ 0.08–0.23.</a:t>
            </a:r>
          </a:p>
          <a:p>
            <a:pPr>
              <a:spcAft>
                <a:spcPts val="400"/>
              </a:spcAft>
            </a:pPr>
            <a:r>
              <a:rPr sz="1300" b="0">
                <a:latin typeface="Times New Roman"/>
              </a:rPr>
              <a:t>• Phrase-list refusal detection; token-overlap correctness; no temperature scaling; no retrieval.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0000" y="4900000"/>
            <a:ext cx="6300000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i="1">
                <a:latin typeface="Times New Roman"/>
              </a:rPr>
              <a:t>Domain adaptation brings knowledge and most of the calibration gain but removes abstention; abstention data restores it at a small cost.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100</TotalTime>
  <Words>376</Words>
  <Application>Microsoft Macintosh PowerPoint</Application>
  <PresentationFormat>Custom</PresentationFormat>
  <Paragraphs>98</Paragraphs>
  <Slides>14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5" baseType="lpstr">
      <vt:lpstr>Office Theme</vt:lpstr>
      <vt:lpstr>&lt;&lt;Programme B.Tech/ M.Tech Course Code – Course Title&gt;&gt; &lt;&lt;Project Title&gt;&gt;</vt:lpstr>
      <vt:lpstr>Approval Mail From Guide</vt:lpstr>
      <vt:lpstr>Aim</vt:lpstr>
      <vt:lpstr>Abstract</vt:lpstr>
      <vt:lpstr>Literature Review</vt:lpstr>
      <vt:lpstr>Research Gap</vt:lpstr>
      <vt:lpstr>Objectives</vt:lpstr>
      <vt:lpstr>Framework/Architecture/Block Diagram</vt:lpstr>
      <vt:lpstr>Functional Requirements</vt:lpstr>
      <vt:lpstr>Modules</vt:lpstr>
      <vt:lpstr>Experiments and Results</vt:lpstr>
      <vt:lpstr>Conclusion and Future Work</vt:lpstr>
      <vt:lpstr>Outcome Achieved</vt:lpstr>
      <vt:lpstr>References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&lt;&lt;Programme B.Tech/ M.Tech Course Code – Course Title&gt;&gt; &lt;&lt;Project Title&gt;&gt;</dc:title>
  <dc:creator>Parthasarathy G</dc:creator>
  <cp:lastModifiedBy>Prakash Mohan</cp:lastModifiedBy>
  <cp:revision>12</cp:revision>
  <dcterms:created xsi:type="dcterms:W3CDTF">2026-07-14T06:00:41Z</dcterms:created>
  <dcterms:modified xsi:type="dcterms:W3CDTF">2026-10-05T06:25:49Z</dcterms:modified>
</cp:coreProperties>
</file>